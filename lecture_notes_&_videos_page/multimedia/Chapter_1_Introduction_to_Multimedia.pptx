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60" r:id="rId1"/>
    <p:sldMasterId id="2147483677" r:id="rId2"/>
    <p:sldMasterId id="2147483694" r:id="rId3"/>
    <p:sldMasterId id="2147483695" r:id="rId4"/>
  </p:sldMasterIdLst>
  <p:notesMasterIdLst>
    <p:notesMasterId r:id="rId27"/>
  </p:notesMasterIdLst>
  <p:sldIdLst>
    <p:sldId id="607" r:id="rId5"/>
    <p:sldId id="608" r:id="rId6"/>
    <p:sldId id="609" r:id="rId7"/>
    <p:sldId id="610" r:id="rId8"/>
    <p:sldId id="611" r:id="rId9"/>
    <p:sldId id="612" r:id="rId10"/>
    <p:sldId id="613" r:id="rId11"/>
    <p:sldId id="614" r:id="rId12"/>
    <p:sldId id="615" r:id="rId13"/>
    <p:sldId id="616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  <p:sldId id="628" r:id="rId25"/>
    <p:sldId id="629" r:id="rId26"/>
  </p:sldIdLst>
  <p:sldSz cx="9144000" cy="6858000" type="screen4x3"/>
  <p:notesSz cx="6858000" cy="9144000"/>
  <p:defaultTextStyle>
    <a:lvl1pPr marL="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baseline="0">
        <a:solidFill>
          <a:schemeClr val="dk1"/>
        </a:solidFill>
        <a:latin typeface="Times New Roman" charset="0"/>
        <a:sym typeface="Times New Roman" charset="0"/>
      </a:defRPr>
    </a:lvl1pPr>
    <a:lvl2pPr marL="4572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baseline="0">
        <a:solidFill>
          <a:schemeClr val="dk1"/>
        </a:solidFill>
        <a:latin typeface="Times New Roman" charset="0"/>
        <a:sym typeface="Times New Roman" charset="0"/>
      </a:defRPr>
    </a:lvl2pPr>
    <a:lvl3pPr marL="9144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baseline="0">
        <a:solidFill>
          <a:schemeClr val="dk1"/>
        </a:solidFill>
        <a:latin typeface="Times New Roman" charset="0"/>
        <a:sym typeface="Times New Roman" charset="0"/>
      </a:defRPr>
    </a:lvl3pPr>
    <a:lvl4pPr marL="13716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baseline="0">
        <a:solidFill>
          <a:schemeClr val="dk1"/>
        </a:solidFill>
        <a:latin typeface="Times New Roman" charset="0"/>
        <a:sym typeface="Times New Roman" charset="0"/>
      </a:defRPr>
    </a:lvl4pPr>
    <a:lvl5pPr marL="1828800" indent="0" algn="l" rtl="0" fontAlgn="base" latinLnBrk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baseline="0">
        <a:solidFill>
          <a:schemeClr val="dk1"/>
        </a:solidFill>
        <a:latin typeface="Times New Roman" charset="0"/>
        <a:sym typeface="Times New Roman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56" autoAdjust="0"/>
    <p:restoredTop sz="90929"/>
  </p:normalViewPr>
  <p:slideViewPr>
    <p:cSldViewPr>
      <p:cViewPr varScale="1">
        <p:scale>
          <a:sx n="49" d="100"/>
          <a:sy n="49" d="100"/>
        </p:scale>
        <p:origin x="81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0" name="Header Placeholder 104901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endParaRPr lang="en-US" altLang="en-US" sz="1200"/>
          </a:p>
        </p:txBody>
      </p:sp>
      <p:sp>
        <p:nvSpPr>
          <p:cNvPr id="1049021" name="Slide Image Placeholder 10490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lIns="91440" tIns="45720" rIns="91440" bIns="45720" anchor="ctr"/>
          <a:lstStyle/>
          <a:p>
            <a:endParaRPr/>
          </a:p>
        </p:txBody>
      </p:sp>
      <p:sp>
        <p:nvSpPr>
          <p:cNvPr id="1049022" name="Notes Placeholder 1049021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9023" name="Date Placeholder 1049022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 algn="r"/>
            <a:endParaRPr lang="en-US" altLang="en-US" sz="1200"/>
          </a:p>
        </p:txBody>
      </p:sp>
      <p:sp>
        <p:nvSpPr>
          <p:cNvPr id="1049024" name="Footer Placeholder 104902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/>
          <a:lstStyle/>
          <a:p>
            <a:pPr lvl="0"/>
            <a:endParaRPr lang="en-US" altLang="en-US" sz="1200"/>
          </a:p>
        </p:txBody>
      </p:sp>
      <p:sp>
        <p:nvSpPr>
          <p:cNvPr id="1049025" name="Slide Number Placeholder 104902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‹#›</a:t>
            </a:fld>
            <a:endParaRPr lang="en-US" altLang="en-US" sz="1200"/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Times New Roman" charset="0"/>
        <a:sym typeface="Times New Roman" charset="0"/>
      </a:defRPr>
    </a:lvl1pPr>
    <a:lvl2pPr marL="4572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Times New Roman" charset="0"/>
        <a:sym typeface="Times New Roman" charset="0"/>
      </a:defRPr>
    </a:lvl2pPr>
    <a:lvl3pPr marL="9144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Times New Roman" charset="0"/>
        <a:sym typeface="Times New Roman" charset="0"/>
      </a:defRPr>
    </a:lvl3pPr>
    <a:lvl4pPr marL="13716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Times New Roman" charset="0"/>
        <a:sym typeface="Times New Roman" charset="0"/>
      </a:defRPr>
    </a:lvl4pPr>
    <a:lvl5pPr marL="1828800" indent="0" algn="l" rtl="0" fontAlgn="base" latinLnBrk="1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Times New Roman" charset="0"/>
        <a:sym typeface="Times New Roman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0486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endParaRPr/>
          </a:p>
        </p:txBody>
      </p:sp>
      <p:sp>
        <p:nvSpPr>
          <p:cNvPr id="1048608" name="Notes Placeholder 1048607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endParaRPr lang="en-US" altLang="en-US"/>
          </a:p>
        </p:txBody>
      </p:sp>
      <p:sp>
        <p:nvSpPr>
          <p:cNvPr id="1048609" name="TextBox 1048608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lide Image Placeholder 104870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endParaRPr/>
          </a:p>
        </p:txBody>
      </p:sp>
      <p:sp>
        <p:nvSpPr>
          <p:cNvPr id="1048705" name="Notes Placeholder 1048704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endParaRPr lang="en-US" altLang="en-US"/>
          </a:p>
        </p:txBody>
      </p:sp>
      <p:sp>
        <p:nvSpPr>
          <p:cNvPr id="1048706" name="TextBox 1048705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14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/>
          <p:cNvGrpSpPr/>
          <p:nvPr/>
        </p:nvGrpSpPr>
        <p:grpSpPr>
          <a:xfrm>
            <a:off x="-7937" y="-7937"/>
            <a:ext cx="9169400" cy="6873875"/>
            <a:chOff x="-8466" y="-8468"/>
            <a:chExt cx="9169804" cy="6874935"/>
          </a:xfrm>
        </p:grpSpPr>
        <p:cxnSp>
          <p:nvCxnSpPr>
            <p:cNvPr id="3145734" name="Straight Connector 3145733"/>
            <p:cNvCxnSpPr>
              <a:cxnSpLocks/>
            </p:cNvCxnSpPr>
            <p:nvPr/>
          </p:nvCxnSpPr>
          <p:spPr>
            <a:xfrm flipV="1">
              <a:off x="5130498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35" name="Straight Connector 3145734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731" name="Freeform 1048730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732" name="Freeform 1048731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733" name="Freeform 1048732"/>
            <p:cNvSpPr/>
            <p:nvPr/>
          </p:nvSpPr>
          <p:spPr>
            <a:xfrm>
              <a:off x="6638689" y="3919613"/>
              <a:ext cx="2513123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734" name="Freeform 1048733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735" name="Freeform 1048734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736" name="Freeform 1048735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737" name="Freeform 1048736"/>
            <p:cNvSpPr/>
            <p:nvPr/>
          </p:nvSpPr>
          <p:spPr>
            <a:xfrm>
              <a:off x="8059565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  <p:sp>
          <p:nvSpPr>
            <p:cNvPr id="1048738" name="Freeform 1048737"/>
            <p:cNvSpPr/>
            <p:nvPr/>
          </p:nvSpPr>
          <p:spPr>
            <a:xfrm>
              <a:off x="-8466" y="-8468"/>
              <a:ext cx="863639" cy="5698416"/>
            </a:xfrm>
            <a:custGeom>
              <a:avLst/>
              <a:gdLst/>
              <a:ahLst/>
              <a:cxnLst/>
              <a:rect l="0" t="0" r="0" b="0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</p:grpSp>
      <p:sp>
        <p:nvSpPr>
          <p:cNvPr id="1048741" name="Date Placeholder 104874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42" name="Footer Placeholder 104874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43" name="Slide Number Placeholder 104874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745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48744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65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6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6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968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9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70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71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97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73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5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76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977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8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7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80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82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746" name="Freeform 1048745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36" name="Straight Connector 3145735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37" name="Straight Connector 3145736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747" name="Freeform 1048746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748" name="Freeform 1048747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749" name="Freeform 1048748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750" name="Freeform 1048749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751" name="Freeform 1048750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752" name="Freeform 1048751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753" name="Freeform 1048752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754" name="TextBox 1048753"/>
          <p:cNvSpPr txBox="1"/>
          <p:nvPr/>
        </p:nvSpPr>
        <p:spPr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“</a:t>
            </a:r>
          </a:p>
        </p:txBody>
      </p:sp>
      <p:sp>
        <p:nvSpPr>
          <p:cNvPr id="1048755" name="TextBox 1048754"/>
          <p:cNvSpPr txBox="1"/>
          <p:nvPr/>
        </p:nvSpPr>
        <p:spPr>
          <a:xfrm>
            <a:off x="6748462" y="2886075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”</a:t>
            </a:r>
          </a:p>
        </p:txBody>
      </p:sp>
      <p:sp>
        <p:nvSpPr>
          <p:cNvPr id="1048758" name="Date Placeholder 1048757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59" name="Footer Placeholder 1048758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60" name="Slide Number Placeholder 1048759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76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3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84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764" name="Freeform 1048763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38" name="Straight Connector 3145737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39" name="Straight Connector 3145738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765" name="Freeform 1048764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766" name="Freeform 1048765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767" name="Freeform 1048766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768" name="Freeform 1048767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769" name="Freeform 1048768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770" name="Freeform 1048769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771" name="Freeform 1048770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772" name="TextBox 1048771"/>
          <p:cNvSpPr txBox="1"/>
          <p:nvPr/>
        </p:nvSpPr>
        <p:spPr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“</a:t>
            </a:r>
          </a:p>
        </p:txBody>
      </p:sp>
      <p:sp>
        <p:nvSpPr>
          <p:cNvPr id="1048773" name="TextBox 1048772"/>
          <p:cNvSpPr txBox="1"/>
          <p:nvPr/>
        </p:nvSpPr>
        <p:spPr>
          <a:xfrm>
            <a:off x="6748462" y="2886075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”</a:t>
            </a:r>
          </a:p>
        </p:txBody>
      </p:sp>
      <p:sp>
        <p:nvSpPr>
          <p:cNvPr id="1048776" name="Date Placeholder 104877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77" name="Footer Placeholder 104877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78" name="Slide Number Placeholder 104877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781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9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5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8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87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8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9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-7937" y="-7937"/>
            <a:ext cx="9169400" cy="6873875"/>
            <a:chOff x="-8466" y="-8468"/>
            <a:chExt cx="9169804" cy="6874935"/>
          </a:xfrm>
        </p:grpSpPr>
        <p:cxnSp>
          <p:nvCxnSpPr>
            <p:cNvPr id="3145730" name="Straight Connector 3145729"/>
            <p:cNvCxnSpPr>
              <a:cxnSpLocks/>
            </p:cNvCxnSpPr>
            <p:nvPr/>
          </p:nvCxnSpPr>
          <p:spPr>
            <a:xfrm flipV="1">
              <a:off x="5130498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31" name="Straight Connector 3145730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589" name="Freeform 1048588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590" name="Freeform 1048589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591" name="Freeform 1048590"/>
            <p:cNvSpPr/>
            <p:nvPr/>
          </p:nvSpPr>
          <p:spPr>
            <a:xfrm>
              <a:off x="6638689" y="3919613"/>
              <a:ext cx="2513123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592" name="Freeform 1048591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593" name="Freeform 1048592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594" name="Freeform 1048593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595" name="Freeform 1048594"/>
            <p:cNvSpPr/>
            <p:nvPr/>
          </p:nvSpPr>
          <p:spPr>
            <a:xfrm>
              <a:off x="8059565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  <p:sp>
          <p:nvSpPr>
            <p:cNvPr id="1048596" name="Freeform 1048595"/>
            <p:cNvSpPr/>
            <p:nvPr/>
          </p:nvSpPr>
          <p:spPr>
            <a:xfrm>
              <a:off x="-8466" y="-8468"/>
              <a:ext cx="863639" cy="5698416"/>
            </a:xfrm>
            <a:custGeom>
              <a:avLst/>
              <a:gdLst/>
              <a:ahLst/>
              <a:cxnLst/>
              <a:rect l="0" t="0" r="0" b="0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</p:grpSp>
      <p:sp>
        <p:nvSpPr>
          <p:cNvPr id="1048599" name="Date Placeholder 1048598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00" name="Footer Placeholder 1048599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01" name="Slide Number Placeholder 1048600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60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4860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9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95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996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7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998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99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90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01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3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04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900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0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008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9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10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782" name="Freeform 1048781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40" name="Straight Connector 3145739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41" name="Straight Connector 3145740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783" name="Freeform 1048782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784" name="Freeform 1048783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785" name="Freeform 1048784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786" name="Freeform 1048785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787" name="Freeform 1048786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788" name="Freeform 1048787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789" name="Freeform 1048788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790" name="TextBox 1048789"/>
          <p:cNvSpPr txBox="1"/>
          <p:nvPr/>
        </p:nvSpPr>
        <p:spPr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“</a:t>
            </a:r>
          </a:p>
        </p:txBody>
      </p:sp>
      <p:sp>
        <p:nvSpPr>
          <p:cNvPr id="1048791" name="TextBox 1048790"/>
          <p:cNvSpPr txBox="1"/>
          <p:nvPr/>
        </p:nvSpPr>
        <p:spPr>
          <a:xfrm>
            <a:off x="6748462" y="2886075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”</a:t>
            </a:r>
          </a:p>
        </p:txBody>
      </p:sp>
      <p:sp>
        <p:nvSpPr>
          <p:cNvPr id="1048794" name="Date Placeholder 1048793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95" name="Footer Placeholder 1048794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796" name="Slide Number Placeholder 1048795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799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1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12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800" name="Freeform 1048799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42" name="Straight Connector 3145741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43" name="Straight Connector 3145742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801" name="Freeform 1048800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802" name="Freeform 1048801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803" name="Freeform 1048802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804" name="Freeform 1048803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805" name="Freeform 1048804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806" name="Freeform 1048805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807" name="Freeform 1048806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808" name="TextBox 1048807"/>
          <p:cNvSpPr txBox="1"/>
          <p:nvPr/>
        </p:nvSpPr>
        <p:spPr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“</a:t>
            </a:r>
          </a:p>
        </p:txBody>
      </p:sp>
      <p:sp>
        <p:nvSpPr>
          <p:cNvPr id="1048809" name="TextBox 1048808"/>
          <p:cNvSpPr txBox="1"/>
          <p:nvPr/>
        </p:nvSpPr>
        <p:spPr>
          <a:xfrm>
            <a:off x="6748462" y="2886075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r>
              <a:rPr lang="en-US" altLang="en-US" sz="8000">
                <a:solidFill>
                  <a:srgbClr val="C0E474"/>
                </a:solidFill>
                <a:latin typeface="Arial" charset="0"/>
              </a:rPr>
              <a:t>”</a:t>
            </a:r>
          </a:p>
        </p:txBody>
      </p:sp>
      <p:sp>
        <p:nvSpPr>
          <p:cNvPr id="1048812" name="Date Placeholder 1048811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813" name="Footer Placeholder 1048812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814" name="Slide Number Placeholder 1048813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817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5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1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15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8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90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Date Placeholder 104881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21" name="Footer Placeholder 1048820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22" name="Slide Number Placeholder 104882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2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2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Date Placeholder 1048657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659" name="Footer Placeholder 1048658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660" name="Slide Number Placeholder 1048659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Date Placeholder 104882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28" name="Footer Placeholder 104882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29" name="Slide Number Placeholder 104882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3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3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Date Placeholder 104883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35" name="Footer Placeholder 104883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36" name="Slide Number Placeholder 104883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3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Date Placeholder 104884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43" name="Footer Placeholder 104884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44" name="Slide Number Placeholder 104884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4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4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Date Placeholder 104885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53" name="Footer Placeholder 104885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54" name="Slide Number Placeholder 104885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Date Placeholder 1048857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59" name="Footer Placeholder 1048858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60" name="Slide Number Placeholder 1048859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Date Placeholder 104886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64" name="Footer Placeholder 104886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65" name="Slide Number Placeholder 104886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6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6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Date Placeholder 1048870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72" name="Footer Placeholder 104887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73" name="Slide Number Placeholder 1048872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7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7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Date Placeholder 1048878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80" name="Footer Placeholder 1048879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81" name="Slide Number Placeholder 1048880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8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Date Placeholder 1048885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87" name="Footer Placeholder 1048886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88" name="Slide Number Placeholder 1048887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9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Date Placeholder 104889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94" name="Footer Placeholder 104889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895" name="Slide Number Placeholder 104889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89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9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Date Placeholder 10486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618" name="Footer Placeholder 104861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619" name="Slide Number Placeholder 104861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Date Placeholder 104889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01" name="Footer Placeholder 1048900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02" name="Slide Number Placeholder 104890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0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0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Date Placeholder 104890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08" name="Footer Placeholder 104890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09" name="Slide Number Placeholder 104890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1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Date Placeholder 1048914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16" name="Footer Placeholder 1048915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17" name="Slide Number Placeholder 1048916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2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2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2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Date Placeholder 1048924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26" name="Footer Placeholder 1048925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27" name="Slide Number Placeholder 1048926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1" name="Date Placeholder 1048930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32" name="Footer Placeholder 104893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33" name="Slide Number Placeholder 1048932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Date Placeholder 1048935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37" name="Footer Placeholder 1048936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38" name="Slide Number Placeholder 1048937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4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4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Date Placeholder 104894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45" name="Footer Placeholder 104894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46" name="Slide Number Placeholder 104894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4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4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4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Date Placeholder 104895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53" name="Footer Placeholder 104895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54" name="Slide Number Placeholder 104895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5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Date Placeholder 1048958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/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60" name="Footer Placeholder 1048959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/>
            <a:r>
              <a:rPr lang="en-US" altLang="en-US" sz="1200">
                <a:solidFill>
                  <a:srgbClr val="898989"/>
                </a:solidFill>
              </a:rPr>
              <a:t>chapter1: Introduction to Multimedia</a:t>
            </a:r>
          </a:p>
        </p:txBody>
      </p:sp>
      <p:sp>
        <p:nvSpPr>
          <p:cNvPr id="1048961" name="Slide Number Placeholder 1048960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200">
                <a:solidFill>
                  <a:srgbClr val="898989"/>
                </a:solidFill>
              </a:rPr>
              <a:pPr lvl="0" algn="r"/>
              <a:t>‹#›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4896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671" name="Freeform 1048670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32" name="Straight Connector 3145731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33" name="Straight Connector 3145732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672" name="Freeform 1048671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673" name="Freeform 1048672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674" name="Freeform 1048673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675" name="Freeform 1048674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676" name="Freeform 1048675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677" name="Freeform 1048676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678" name="Freeform 1048677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679" name="Title Placeholder 1048678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680" name="Text Placeholder 1048679"/>
          <p:cNvSpPr>
            <a:spLocks noGrp="1"/>
          </p:cNvSpPr>
          <p:nvPr>
            <p:ph type="body" idx="1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681" name="Date Placeholder 1048680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2" name="Footer Placeholder 1048681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683" name="Slide Number Placeholder 1048682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/>
          <p:cNvGrpSpPr/>
          <p:nvPr/>
        </p:nvGrpSpPr>
        <p:grpSpPr>
          <a:xfrm>
            <a:off x="-7937" y="-7937"/>
            <a:ext cx="9169400" cy="6873875"/>
            <a:chOff x="-8467" y="-8468"/>
            <a:chExt cx="9169805" cy="6874935"/>
          </a:xfrm>
        </p:grpSpPr>
        <p:sp>
          <p:nvSpPr>
            <p:cNvPr id="1048576" name="Freeform 1048575"/>
            <p:cNvSpPr/>
            <p:nvPr/>
          </p:nvSpPr>
          <p:spPr>
            <a:xfrm>
              <a:off x="-8467" y="4013290"/>
              <a:ext cx="457221" cy="2853177"/>
            </a:xfrm>
            <a:custGeom>
              <a:avLst/>
              <a:gdLst/>
              <a:ahLst/>
              <a:cxnLst/>
              <a:rect l="0" t="0" r="0" b="0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</a:path>
              </a:pathLst>
            </a:custGeom>
            <a:solidFill>
              <a:schemeClr val="accent1">
                <a:alpha val="85097"/>
              </a:schemeClr>
            </a:solidFill>
            <a:ln>
              <a:noFill/>
            </a:ln>
          </p:spPr>
        </p:sp>
        <p:cxnSp>
          <p:nvCxnSpPr>
            <p:cNvPr id="3145728" name="Straight Connector 3145727"/>
            <p:cNvCxnSpPr>
              <a:cxnSpLocks/>
            </p:cNvCxnSpPr>
            <p:nvPr/>
          </p:nvCxnSpPr>
          <p:spPr>
            <a:xfrm flipV="1">
              <a:off x="5130497" y="4175239"/>
              <a:ext cx="4022902" cy="2683288"/>
            </a:xfrm>
            <a:prstGeom prst="line">
              <a:avLst/>
            </a:prstGeom>
            <a:noFill/>
            <a:ln w="9525" cap="rnd" cmpd="sng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</p:cxnSp>
        <p:cxnSp>
          <p:nvCxnSpPr>
            <p:cNvPr id="3145729" name="Straight Connector 3145728"/>
            <p:cNvCxnSpPr>
              <a:cxnSpLocks/>
            </p:cNvCxnSpPr>
            <p:nvPr/>
          </p:nvCxnSpPr>
          <p:spPr>
            <a:xfrm>
              <a:off x="7041932" y="-529"/>
              <a:ext cx="1219254" cy="6859057"/>
            </a:xfrm>
            <a:prstGeom prst="line">
              <a:avLst/>
            </a:prstGeom>
            <a:noFill/>
            <a:ln w="9525" cap="rnd" cmpd="sng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</p:cxnSp>
        <p:sp>
          <p:nvSpPr>
            <p:cNvPr id="1048577" name="Freeform 1048576"/>
            <p:cNvSpPr/>
            <p:nvPr/>
          </p:nvSpPr>
          <p:spPr>
            <a:xfrm>
              <a:off x="6891113" y="-529"/>
              <a:ext cx="2270225" cy="6866996"/>
            </a:xfrm>
            <a:custGeom>
              <a:avLst/>
              <a:gdLst/>
              <a:ahLst/>
              <a:cxnLst/>
              <a:rect l="0" t="0" r="0" b="0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48578" name="Freeform 1048577"/>
            <p:cNvSpPr/>
            <p:nvPr/>
          </p:nvSpPr>
          <p:spPr>
            <a:xfrm>
              <a:off x="7205452" y="-8468"/>
              <a:ext cx="1947948" cy="6866996"/>
            </a:xfrm>
            <a:custGeom>
              <a:avLst/>
              <a:gdLst/>
              <a:ahLst/>
              <a:cxnLst/>
              <a:rect l="0" t="0" r="0" b="0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048579" name="Freeform 1048578"/>
            <p:cNvSpPr/>
            <p:nvPr/>
          </p:nvSpPr>
          <p:spPr>
            <a:xfrm>
              <a:off x="6638689" y="3919613"/>
              <a:ext cx="2513124" cy="2938915"/>
            </a:xfrm>
            <a:custGeom>
              <a:avLst/>
              <a:gdLst/>
              <a:ahLst/>
              <a:cxnLst/>
              <a:rect l="0" t="0" r="0" b="0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</p:sp>
        <p:sp>
          <p:nvSpPr>
            <p:cNvPr id="1048580" name="Freeform 1048579"/>
            <p:cNvSpPr/>
            <p:nvPr/>
          </p:nvSpPr>
          <p:spPr>
            <a:xfrm>
              <a:off x="7010180" y="-8468"/>
              <a:ext cx="2143219" cy="6866996"/>
            </a:xfrm>
            <a:custGeom>
              <a:avLst/>
              <a:gdLst/>
              <a:ahLst/>
              <a:cxnLst/>
              <a:rect l="0" t="0" r="0" b="0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</a:path>
              </a:pathLst>
            </a:custGeom>
            <a:solidFill>
              <a:srgbClr val="3F7819">
                <a:alpha val="70195"/>
              </a:srgbClr>
            </a:solidFill>
            <a:ln>
              <a:noFill/>
            </a:ln>
          </p:spPr>
        </p:sp>
        <p:sp>
          <p:nvSpPr>
            <p:cNvPr id="1048581" name="Freeform 1048580"/>
            <p:cNvSpPr/>
            <p:nvPr/>
          </p:nvSpPr>
          <p:spPr>
            <a:xfrm>
              <a:off x="8296112" y="-8468"/>
              <a:ext cx="857288" cy="6866996"/>
            </a:xfrm>
            <a:custGeom>
              <a:avLst/>
              <a:gdLst/>
              <a:ahLst/>
              <a:cxnLst/>
              <a:rect l="0" t="0" r="0" b="0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</a:path>
              </a:pathLst>
            </a:custGeom>
            <a:solidFill>
              <a:srgbClr val="C0E474">
                <a:alpha val="70195"/>
              </a:srgbClr>
            </a:solidFill>
            <a:ln>
              <a:noFill/>
            </a:ln>
          </p:spPr>
        </p:sp>
        <p:sp>
          <p:nvSpPr>
            <p:cNvPr id="1048582" name="Freeform 1048581"/>
            <p:cNvSpPr/>
            <p:nvPr/>
          </p:nvSpPr>
          <p:spPr>
            <a:xfrm>
              <a:off x="8077027" y="-8468"/>
              <a:ext cx="1066847" cy="6866996"/>
            </a:xfrm>
            <a:custGeom>
              <a:avLst/>
              <a:gdLst/>
              <a:ahLst/>
              <a:cxnLst/>
              <a:rect l="0" t="0" r="0" b="0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</a:path>
              </a:pathLst>
            </a:custGeom>
            <a:solidFill>
              <a:schemeClr val="accent1">
                <a:alpha val="65097"/>
              </a:schemeClr>
            </a:solidFill>
            <a:ln>
              <a:noFill/>
            </a:ln>
          </p:spPr>
        </p:sp>
        <p:sp>
          <p:nvSpPr>
            <p:cNvPr id="1048583" name="Freeform 1048582"/>
            <p:cNvSpPr/>
            <p:nvPr/>
          </p:nvSpPr>
          <p:spPr>
            <a:xfrm>
              <a:off x="8059564" y="4894488"/>
              <a:ext cx="1095423" cy="1964040"/>
            </a:xfrm>
            <a:custGeom>
              <a:avLst/>
              <a:gdLst/>
              <a:ahLst/>
              <a:cxnLst/>
              <a:rect l="0" t="0" r="0" b="0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</a:path>
              </a:pathLst>
            </a:custGeom>
            <a:solidFill>
              <a:schemeClr val="accent1">
                <a:alpha val="79999"/>
              </a:schemeClr>
            </a:solidFill>
            <a:ln>
              <a:noFill/>
            </a:ln>
          </p:spPr>
        </p:sp>
      </p:grpSp>
      <p:sp>
        <p:nvSpPr>
          <p:cNvPr id="1048584" name="Title Placeholder 1048583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8412" cy="1320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85" name="Text Placeholder 1048584"/>
          <p:cNvSpPr>
            <a:spLocks noGrp="1"/>
          </p:cNvSpPr>
          <p:nvPr>
            <p:ph type="body" idx="1"/>
          </p:nvPr>
        </p:nvSpPr>
        <p:spPr>
          <a:xfrm>
            <a:off x="609600" y="2160587"/>
            <a:ext cx="6348412" cy="388143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2"/>
          </p:nvPr>
        </p:nvSpPr>
        <p:spPr>
          <a:xfrm>
            <a:off x="5405437" y="6042025"/>
            <a:ext cx="68421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datetime1">
              <a:rPr lang="en-US" altLang="en-US" sz="900">
                <a:solidFill>
                  <a:srgbClr val="898989"/>
                </a:solidFill>
              </a:rPr>
              <a:pPr lvl="0" algn="r"/>
              <a:t>10/20/2025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3"/>
          </p:nvPr>
        </p:nvSpPr>
        <p:spPr>
          <a:xfrm>
            <a:off x="609600" y="6042025"/>
            <a:ext cx="46228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/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4"/>
          </p:nvPr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algn="r"/>
            <a:fld id="{566ABCEB-ACFC-4714-9973-3DA970169C29}" type="slidenum">
              <a:rPr lang="en-US" altLang="en-US" sz="900">
                <a:solidFill>
                  <a:schemeClr val="accent1"/>
                </a:solidFill>
              </a:rPr>
              <a:pPr lvl="0" algn="r"/>
              <a:t>‹#›</a:t>
            </a:fld>
            <a:endParaRPr lang="en-US" altLang="en-US" sz="900">
              <a:solidFill>
                <a:schemeClr val="accen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Placeholder 1048650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652" name="Text Placeholder 1048651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653" name="Date Placeholder 104865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eaLnBrk="1" latin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4" name="Footer Placeholder 104865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 eaLnBrk="1" latin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chapter1: Introduction to Multimedia</a:t>
            </a:r>
          </a:p>
        </p:txBody>
      </p:sp>
      <p:sp>
        <p:nvSpPr>
          <p:cNvPr id="1048655" name="Slide Number Placeholder 104865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latin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Placeholder 1048609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611" name="Text Placeholder 104861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612" name="Date Placeholder 10486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eaLnBrk="1" latin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13" name="Footer Placeholder 104861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ctr" eaLnBrk="1" latin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chapter1: Introduction to Multimedia</a:t>
            </a:r>
          </a:p>
        </p:txBody>
      </p:sp>
      <p:sp>
        <p:nvSpPr>
          <p:cNvPr id="1048614" name="Slide Number Placeholder 10486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latin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048603"/>
          <p:cNvSpPr>
            <a:spLocks noGrp="1"/>
          </p:cNvSpPr>
          <p:nvPr>
            <p:ph type="ctrTitle"/>
          </p:nvPr>
        </p:nvSpPr>
        <p:spPr>
          <a:xfrm>
            <a:off x="352425" y="376237"/>
            <a:ext cx="8562975" cy="1077912"/>
          </a:xfrm>
          <a:prstGeom prst="rect">
            <a:avLst/>
          </a:prstGeom>
          <a:solidFill>
            <a:srgbClr val="3B3B3B">
              <a:alpha val="100000"/>
            </a:srgb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b"/>
          <a:lstStyle>
            <a:lvl1pPr algn="l">
              <a:defRPr sz="3600"/>
            </a:lvl1pPr>
          </a:lstStyle>
          <a:p>
            <a:pPr lvl="0" algn="ctr" eaLnBrk="1" latinLnBrk="1" hangingPunct="1"/>
            <a:r>
              <a:rPr lang="en-US" altLang="en-US" sz="5400" b="1"/>
              <a:t>CHAPTER ONE</a:t>
            </a:r>
          </a:p>
        </p:txBody>
      </p:sp>
      <p:sp>
        <p:nvSpPr>
          <p:cNvPr id="1048605" name="Subtitle 1048604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534400" cy="4953000"/>
          </a:xfrm>
          <a:prstGeom prst="rect">
            <a:avLst/>
          </a:prstGeom>
          <a:solidFill>
            <a:srgbClr val="FAF1D2">
              <a:alpha val="100000"/>
            </a:srgb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algn="ctr">
              <a:buNone/>
              <a:defRPr sz="1800">
                <a:solidFill>
                  <a:srgbClr val="404040"/>
                </a:solidFill>
              </a:defRPr>
            </a:lvl1pPr>
            <a:lvl2pPr marL="457200" algn="ctr">
              <a:buNone/>
            </a:lvl2pPr>
            <a:lvl3pPr marL="914400" algn="ctr">
              <a:buNone/>
            </a:lvl3pPr>
            <a:lvl4pPr marL="1371600" algn="ctr">
              <a:buNone/>
            </a:lvl4pPr>
            <a:lvl5pPr marL="1828800" algn="ctr">
              <a:buNone/>
            </a:lvl5pPr>
          </a:lstStyle>
          <a:p>
            <a:pPr lvl="0" eaLnBrk="1" latinLnBrk="1" hangingPunct="1"/>
            <a:r>
              <a:rPr lang="en-US" altLang="en-US" sz="3600" b="1">
                <a:solidFill>
                  <a:srgbClr val="7F7F7F"/>
                </a:solidFill>
              </a:rPr>
              <a:t>	</a:t>
            </a:r>
          </a:p>
          <a:p>
            <a:pPr lvl="0" eaLnBrk="1" latinLnBrk="1" hangingPunct="1"/>
            <a:r>
              <a:rPr lang="en-US" altLang="en-US" sz="3600" b="1">
                <a:solidFill>
                  <a:schemeClr val="dk1"/>
                </a:solidFill>
              </a:rPr>
              <a:t>INTRODUCTION TO MULTIMEDIA</a:t>
            </a:r>
          </a:p>
        </p:txBody>
      </p:sp>
      <p:sp>
        <p:nvSpPr>
          <p:cNvPr id="1048606" name="TextBox 1048605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1400">
                <a:solidFill>
                  <a:schemeClr val="dk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</a:t>
            </a:fld>
            <a:endParaRPr lang="en-US" altLang="en-US" sz="1400">
              <a:solidFill>
                <a:schemeClr val="dk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048621"/>
          <p:cNvSpPr>
            <a:spLocks noGrp="1"/>
          </p:cNvSpPr>
          <p:nvPr>
            <p:ph type="title"/>
          </p:nvPr>
        </p:nvSpPr>
        <p:spPr>
          <a:xfrm>
            <a:off x="304800" y="274637"/>
            <a:ext cx="8686800" cy="912812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</a:lstStyle>
          <a:p>
            <a:pPr lvl="0" eaLnBrk="1" latinLnBrk="1" hangingPunct="1"/>
            <a:r>
              <a:rPr lang="en-US" altLang="en-US" sz="4900" b="1">
                <a:solidFill>
                  <a:srgbClr val="002060"/>
                </a:solidFill>
                <a:latin typeface="Calisto MT" pitchFamily="18" charset="0"/>
              </a:rPr>
              <a:t>What is Multimedia?</a:t>
            </a:r>
          </a:p>
        </p:txBody>
      </p:sp>
      <p:sp>
        <p:nvSpPr>
          <p:cNvPr id="1048623" name="Text Placeholder 1048622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686800" cy="5349875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just" eaLnBrk="1" latinLnBrk="1" hangingPunct="1">
              <a:buFont typeface="Wingdings" pitchFamily="2" charset="2"/>
              <a:buChar char="v"/>
            </a:pPr>
            <a:r>
              <a:rPr lang="en-US" altLang="en-US">
                <a:latin typeface="Garamond" pitchFamily="18" charset="0"/>
              </a:rPr>
              <a:t> Derived from the word “Multi” and “Media”</a:t>
            </a:r>
          </a:p>
          <a:p>
            <a:pPr lvl="1" algn="just" eaLnBrk="1" latinLnBrk="1" hangingPunct="1">
              <a:buFont typeface="Wingdings" pitchFamily="2" charset="2"/>
              <a:buChar char="§"/>
            </a:pPr>
            <a:r>
              <a:rPr lang="en-US" altLang="en-US">
                <a:latin typeface="Garamond" pitchFamily="18" charset="0"/>
              </a:rPr>
              <a:t>Multi</a:t>
            </a:r>
          </a:p>
          <a:p>
            <a:pPr lvl="2" algn="just" eaLnBrk="1" latinLnBrk="1" hangingPunct="1"/>
            <a:r>
              <a:rPr lang="en-US" altLang="en-US">
                <a:latin typeface="Garamond" pitchFamily="18" charset="0"/>
              </a:rPr>
              <a:t>Many, Multiple,</a:t>
            </a:r>
          </a:p>
          <a:p>
            <a:pPr lvl="1" algn="just" eaLnBrk="1" latinLnBrk="1" hangingPunct="1">
              <a:buFont typeface="Wingdings" pitchFamily="2" charset="2"/>
              <a:buChar char="§"/>
            </a:pPr>
            <a:r>
              <a:rPr lang="en-US" altLang="en-US">
                <a:latin typeface="Garamond" pitchFamily="18" charset="0"/>
              </a:rPr>
              <a:t>Media</a:t>
            </a:r>
          </a:p>
          <a:p>
            <a:pPr lvl="2" algn="just" eaLnBrk="1" latinLnBrk="1" hangingPunct="1">
              <a:lnSpc>
                <a:spcPct val="150000"/>
              </a:lnSpc>
            </a:pPr>
            <a:r>
              <a:rPr lang="en-US" altLang="en-US">
                <a:solidFill>
                  <a:srgbClr val="000000"/>
                </a:solidFill>
                <a:latin typeface="Garamond" pitchFamily="18" charset="0"/>
                <a:ea typeface="Arial" charset="0"/>
              </a:rPr>
              <a:t>Tools that is used to represent or do a certain things, delivery medium, a form of mass communication – newspaper, magazine / tv.</a:t>
            </a:r>
          </a:p>
          <a:p>
            <a:pPr lvl="2" algn="just" eaLnBrk="1" latinLnBrk="1" hangingPunct="1">
              <a:lnSpc>
                <a:spcPct val="150000"/>
              </a:lnSpc>
            </a:pPr>
            <a:r>
              <a:rPr lang="en-US" altLang="en-US">
                <a:solidFill>
                  <a:srgbClr val="000000"/>
                </a:solidFill>
                <a:latin typeface="Garamond" pitchFamily="18" charset="0"/>
                <a:ea typeface="Arial" charset="0"/>
              </a:rPr>
              <a:t>Distribution tool &amp; information presentation – text, graphic, voice, images, music and etc.</a:t>
            </a:r>
          </a:p>
          <a:p>
            <a:pPr lvl="2" algn="just" eaLnBrk="1" latinLnBrk="1" hangingPunct="1"/>
            <a:endParaRPr lang="en-US" altLang="en-US">
              <a:latin typeface="Book Antiqua" pitchFamily="18" charset="0"/>
            </a:endParaRPr>
          </a:p>
        </p:txBody>
      </p:sp>
      <p:sp>
        <p:nvSpPr>
          <p:cNvPr id="1048624" name="TextBox 10486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FontTx/>
              <a:buNone/>
            </a:pPr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048624"/>
          <p:cNvSpPr>
            <a:spLocks noGrp="1"/>
          </p:cNvSpPr>
          <p:nvPr>
            <p:ph type="title"/>
          </p:nvPr>
        </p:nvSpPr>
        <p:spPr>
          <a:xfrm>
            <a:off x="228600" y="93662"/>
            <a:ext cx="8686800" cy="4635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What is Multimedia? …</a:t>
            </a:r>
          </a:p>
        </p:txBody>
      </p:sp>
      <p:sp>
        <p:nvSpPr>
          <p:cNvPr id="1048626" name="Content Placeholder 1048625"/>
          <p:cNvSpPr>
            <a:spLocks noGrp="1"/>
          </p:cNvSpPr>
          <p:nvPr>
            <p:ph idx="1"/>
          </p:nvPr>
        </p:nvSpPr>
        <p:spPr>
          <a:xfrm>
            <a:off x="228600" y="557212"/>
            <a:ext cx="8686800" cy="6300787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Multimedia can have many definitions these include: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000" b="1">
                <a:solidFill>
                  <a:schemeClr val="dk1"/>
                </a:solidFill>
                <a:latin typeface="Garamond" pitchFamily="18" charset="0"/>
              </a:rPr>
              <a:t>Multimedia</a:t>
            </a: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 means that computer information can be represented through audio, video, and animation in addition to traditional media (i.e., text, graphics drawings, images). 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000" b="1">
                <a:solidFill>
                  <a:schemeClr val="dk1"/>
                </a:solidFill>
                <a:latin typeface="Garamond" pitchFamily="18" charset="0"/>
              </a:rPr>
              <a:t>Multimedia </a:t>
            </a: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is the field concerned with the </a:t>
            </a:r>
            <a:r>
              <a:rPr lang="en-US" altLang="en-US" sz="2000" b="1">
                <a:solidFill>
                  <a:schemeClr val="dk1"/>
                </a:solidFill>
                <a:latin typeface="Garamond" pitchFamily="18" charset="0"/>
              </a:rPr>
              <a:t>computer controlled </a:t>
            </a: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integration of text, graphics, drawings, still and moving images (Video), animation, audio, and any other media where every type of information can be represented, stored, transmitted and processed </a:t>
            </a:r>
            <a:r>
              <a:rPr lang="en-US" altLang="en-US" sz="2000" b="1">
                <a:solidFill>
                  <a:schemeClr val="dk1"/>
                </a:solidFill>
                <a:latin typeface="Garamond" pitchFamily="18" charset="0"/>
              </a:rPr>
              <a:t>digitally</a:t>
            </a: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 .</a:t>
            </a:r>
          </a:p>
          <a:p>
            <a:pPr lvl="1" eaLnBrk="1" latinLnBrk="1" hangingPunct="1">
              <a:buNone/>
            </a:pPr>
            <a:r>
              <a:t/>
            </a:r>
            <a:br/>
            <a:endParaRPr lang="en-US" altLang="en-US" sz="1100">
              <a:latin typeface="Garamond" pitchFamily="18" charset="0"/>
            </a:endParaRPr>
          </a:p>
          <a:p>
            <a:pPr lvl="0" eaLnBrk="1" latinLnBrk="1" hangingPunct="1">
              <a:lnSpc>
                <a:spcPct val="80000"/>
              </a:lnSpc>
              <a:buNone/>
            </a:pPr>
            <a:r>
              <a:t/>
            </a:r>
            <a:br/>
            <a:r>
              <a:rPr lang="en-US" altLang="en-US" sz="600"/>
              <a:t> </a:t>
            </a:r>
          </a:p>
        </p:txBody>
      </p:sp>
      <p:sp>
        <p:nvSpPr>
          <p:cNvPr id="1048627" name="TextBox 1048626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3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1143000" y="4267200"/>
            <a:ext cx="6553200" cy="2514600"/>
            <a:chOff x="2421" y="3244"/>
            <a:chExt cx="7560" cy="2520"/>
          </a:xfrm>
        </p:grpSpPr>
        <p:grpSp>
          <p:nvGrpSpPr>
            <p:cNvPr id="96" name="Group 95"/>
            <p:cNvGrpSpPr/>
            <p:nvPr/>
          </p:nvGrpSpPr>
          <p:grpSpPr>
            <a:xfrm>
              <a:off x="4401" y="3784"/>
              <a:ext cx="3420" cy="1080"/>
              <a:chOff x="4221" y="3424"/>
              <a:chExt cx="3420" cy="1080"/>
            </a:xfrm>
          </p:grpSpPr>
          <p:sp>
            <p:nvSpPr>
              <p:cNvPr id="1048628" name="Rectangle 1048627"/>
              <p:cNvSpPr/>
              <p:nvPr/>
            </p:nvSpPr>
            <p:spPr>
              <a:xfrm>
                <a:off x="4581" y="3784"/>
                <a:ext cx="2700" cy="360"/>
              </a:xfrm>
              <a:prstGeom prst="rect">
                <a:avLst/>
              </a:prstGeom>
            </p:spPr>
            <p:txBody>
              <a:bodyPr wrap="none" lIns="91440" tIns="45720" rIns="91440" bIns="45720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sz="3600" b="0" i="0" kern="10" spc="0" normalizeH="0">
                    <a:ln>
                      <a:noFill/>
                    </a:ln>
                    <a:gradFill rotWithShape="0">
                      <a:gsLst>
                        <a:gs pos="0">
                          <a:srgbClr val="3399FF">
                            <a:alpha val="100000"/>
                          </a:srgbClr>
                        </a:gs>
                        <a:gs pos="100000">
                          <a:srgbClr val="184776">
                            <a:alpha val="100000"/>
                          </a:srgbClr>
                        </a:gs>
                      </a:gsLst>
                      <a:path path="rect">
                        <a:fillToRect r="100000" b="100000"/>
                      </a:path>
                    </a:gradFill>
                    <a:effectLst>
                      <a:outerShdw dist="35921" dir="2699999" algn="ctr">
                        <a:srgbClr val="C0C0C0">
                          <a:alpha val="100000"/>
                        </a:srgbClr>
                      </a:outerShdw>
                    </a:effectLst>
                    <a:latin typeface="Impact"/>
                    <a:ea typeface="Impact"/>
                  </a:rPr>
                  <a:t>MULTIMEDIA</a:t>
                </a:r>
              </a:p>
            </p:txBody>
          </p:sp>
          <p:sp>
            <p:nvSpPr>
              <p:cNvPr id="1048629" name="Bevel 1048628"/>
              <p:cNvSpPr/>
              <p:nvPr/>
            </p:nvSpPr>
            <p:spPr>
              <a:xfrm>
                <a:off x="4221" y="3424"/>
                <a:ext cx="3420" cy="1080"/>
              </a:xfrm>
              <a:prstGeom prst="bevel">
                <a:avLst/>
              </a:prstGeom>
              <a:noFill/>
              <a:ln w="9525" cap="flat" cmpd="sng">
                <a:solidFill>
                  <a:schemeClr val="dk1">
                    <a:alpha val="100000"/>
                  </a:schemeClr>
                </a:solidFill>
                <a:prstDash val="solid"/>
                <a:round/>
              </a:ln>
            </p:spPr>
            <p:txBody>
              <a:bodyPr lIns="91440" tIns="45720" rIns="91440" bIns="45720"/>
              <a:lstStyle>
                <a:lvl1pPr marL="342900" indent="-342900" algn="l" rtl="0" fontAlgn="base" latinLnBrk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itchFamily="18" charset="2"/>
                  <a:buChar char=""/>
                  <a:defRPr sz="1800" b="0" i="0" u="none" baseline="0">
                    <a:solidFill>
                      <a:srgbClr val="404040"/>
                    </a:solidFill>
                    <a:latin typeface="Trebuchet MS" pitchFamily="34" charset="0"/>
                    <a:sym typeface="Times New Roman" charset="0"/>
                  </a:defRPr>
                </a:lvl1pPr>
                <a:lvl2pPr marL="742950" indent="-285750" algn="l" rtl="0" fontAlgn="base" latinLnBrk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itchFamily="18" charset="2"/>
                  <a:buChar char=""/>
                  <a:defRPr sz="1600" b="0" i="0" u="none" baseline="0">
                    <a:solidFill>
                      <a:srgbClr val="404040"/>
                    </a:solidFill>
                    <a:latin typeface="Trebuchet MS" pitchFamily="34" charset="0"/>
                    <a:sym typeface="Times New Roman" charset="0"/>
                  </a:defRPr>
                </a:lvl2pPr>
                <a:lvl3pPr marL="1143000" indent="-228600" algn="l" rtl="0" fontAlgn="base" latinLnBrk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itchFamily="18" charset="2"/>
                  <a:buChar char=""/>
                  <a:defRPr sz="1400" b="0" i="0" u="none" baseline="0">
                    <a:solidFill>
                      <a:srgbClr val="404040"/>
                    </a:solidFill>
                    <a:latin typeface="Trebuchet MS" pitchFamily="34" charset="0"/>
                    <a:sym typeface="Times New Roman" charset="0"/>
                  </a:defRPr>
                </a:lvl3pPr>
                <a:lvl4pPr marL="1600200" indent="-228600" algn="l" rtl="0" fontAlgn="base" latinLnBrk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itchFamily="18" charset="2"/>
                  <a:buChar char=""/>
                  <a:defRPr sz="1200" b="0" i="0" u="none" baseline="0">
                    <a:solidFill>
                      <a:srgbClr val="404040"/>
                    </a:solidFill>
                    <a:latin typeface="Trebuchet MS" pitchFamily="34" charset="0"/>
                    <a:sym typeface="Times New Roman" charset="0"/>
                  </a:defRPr>
                </a:lvl4pPr>
                <a:lvl5pPr marL="2057400" indent="-228600" algn="l" rtl="0" fontAlgn="base" latinLnBrk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3" pitchFamily="18" charset="2"/>
                  <a:buChar char=""/>
                  <a:defRPr sz="1200" b="0" i="0" u="none" baseline="0">
                    <a:solidFill>
                      <a:srgbClr val="404040"/>
                    </a:solidFill>
                    <a:latin typeface="Trebuchet MS" pitchFamily="34" charset="0"/>
                    <a:sym typeface="Times New Roman" charset="0"/>
                  </a:defRPr>
                </a:lvl5pPr>
              </a:lstStyle>
              <a:p>
                <a:pPr marL="0" lvl="0" indent="0" eaLnBrk="1" latinLnBrk="1" hangingPunct="1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1048630" name="TextBox 1048629"/>
            <p:cNvSpPr txBox="1"/>
            <p:nvPr/>
          </p:nvSpPr>
          <p:spPr>
            <a:xfrm>
              <a:off x="2421" y="3424"/>
              <a:ext cx="1080" cy="36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lIns="91440" tIns="45720" rIns="91440" bIns="45720"/>
            <a:lstStyle>
              <a:lvl1pPr marL="342900" indent="-3429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8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1pPr>
              <a:lvl2pPr marL="742950" indent="-28575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6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2pPr>
              <a:lvl3pPr marL="11430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4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3pPr>
              <a:lvl4pPr marL="16002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4pPr>
              <a:lvl5pPr marL="20574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5pPr>
            </a:lstStyle>
            <a:p>
              <a:pPr marL="0" lvl="0" indent="0" algn="ctr" eaLnBrk="1" latin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Copperplate Gothic Bold" pitchFamily="34" charset="0"/>
                </a:rPr>
                <a:t>TEXT</a:t>
              </a:r>
            </a:p>
          </p:txBody>
        </p:sp>
        <p:sp>
          <p:nvSpPr>
            <p:cNvPr id="1048631" name="Straight Connector 1048630"/>
            <p:cNvSpPr/>
            <p:nvPr/>
          </p:nvSpPr>
          <p:spPr>
            <a:xfrm>
              <a:off x="3501" y="3784"/>
              <a:ext cx="900" cy="360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32" name="TextBox 1048631"/>
            <p:cNvSpPr txBox="1"/>
            <p:nvPr/>
          </p:nvSpPr>
          <p:spPr>
            <a:xfrm>
              <a:off x="2421" y="5044"/>
              <a:ext cx="1080" cy="36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lIns="91440" tIns="45720" rIns="91440" bIns="45720"/>
            <a:lstStyle>
              <a:lvl1pPr marL="342900" indent="-3429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8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1pPr>
              <a:lvl2pPr marL="742950" indent="-28575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6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2pPr>
              <a:lvl3pPr marL="11430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4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3pPr>
              <a:lvl4pPr marL="16002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4pPr>
              <a:lvl5pPr marL="20574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5pPr>
            </a:lstStyle>
            <a:p>
              <a:pPr marL="0" lvl="0" indent="0" algn="ctr" eaLnBrk="1" latin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Copperplate Gothic Bold" pitchFamily="34" charset="0"/>
                </a:rPr>
                <a:t>AUDIO</a:t>
              </a:r>
            </a:p>
          </p:txBody>
        </p:sp>
        <p:sp>
          <p:nvSpPr>
            <p:cNvPr id="1048633" name="TextBox 1048632"/>
            <p:cNvSpPr txBox="1"/>
            <p:nvPr/>
          </p:nvSpPr>
          <p:spPr>
            <a:xfrm>
              <a:off x="8541" y="3244"/>
              <a:ext cx="1440" cy="36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lIns="91440" tIns="45720" rIns="91440" bIns="45720"/>
            <a:lstStyle>
              <a:lvl1pPr marL="342900" indent="-3429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8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1pPr>
              <a:lvl2pPr marL="742950" indent="-28575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6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2pPr>
              <a:lvl3pPr marL="11430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4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3pPr>
              <a:lvl4pPr marL="16002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4pPr>
              <a:lvl5pPr marL="20574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5pPr>
            </a:lstStyle>
            <a:p>
              <a:pPr marL="0" lvl="0" indent="0" algn="ctr" eaLnBrk="1" latin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Copperplate Gothic Bold" pitchFamily="34" charset="0"/>
                </a:rPr>
                <a:t>GRAPHIC</a:t>
              </a:r>
            </a:p>
          </p:txBody>
        </p:sp>
        <p:sp>
          <p:nvSpPr>
            <p:cNvPr id="1048634" name="Straight Connector 1048633"/>
            <p:cNvSpPr/>
            <p:nvPr/>
          </p:nvSpPr>
          <p:spPr>
            <a:xfrm flipV="1">
              <a:off x="3501" y="4684"/>
              <a:ext cx="900" cy="540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35" name="TextBox 1048634"/>
            <p:cNvSpPr txBox="1"/>
            <p:nvPr/>
          </p:nvSpPr>
          <p:spPr>
            <a:xfrm>
              <a:off x="8541" y="4864"/>
              <a:ext cx="1440" cy="36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lIns="91440" tIns="45720" rIns="91440" bIns="45720"/>
            <a:lstStyle>
              <a:lvl1pPr marL="342900" indent="-3429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8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1pPr>
              <a:lvl2pPr marL="742950" indent="-28575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6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2pPr>
              <a:lvl3pPr marL="11430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4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3pPr>
              <a:lvl4pPr marL="16002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4pPr>
              <a:lvl5pPr marL="20574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5pPr>
            </a:lstStyle>
            <a:p>
              <a:pPr marL="0" lvl="0" indent="0" algn="ctr" eaLnBrk="1" latin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Copperplate Gothic Bold" pitchFamily="34" charset="0"/>
                </a:rPr>
                <a:t>VIDEO</a:t>
              </a:r>
            </a:p>
          </p:txBody>
        </p:sp>
        <p:sp>
          <p:nvSpPr>
            <p:cNvPr id="1048636" name="TextBox 1048635"/>
            <p:cNvSpPr txBox="1"/>
            <p:nvPr/>
          </p:nvSpPr>
          <p:spPr>
            <a:xfrm>
              <a:off x="5481" y="5404"/>
              <a:ext cx="1620" cy="36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lIns="91440" tIns="45720" rIns="91440" bIns="45720"/>
            <a:lstStyle>
              <a:lvl1pPr marL="342900" indent="-3429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8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1pPr>
              <a:lvl2pPr marL="742950" indent="-28575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6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2pPr>
              <a:lvl3pPr marL="11430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4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3pPr>
              <a:lvl4pPr marL="16002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4pPr>
              <a:lvl5pPr marL="2057400" indent="-228600" algn="l" rtl="0" fontAlgn="base" latinLnBrk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18" charset="2"/>
                <a:buChar char=""/>
                <a:defRPr sz="1200" b="0" i="0" u="none" baseline="0">
                  <a:solidFill>
                    <a:srgbClr val="404040"/>
                  </a:solidFill>
                  <a:latin typeface="Trebuchet MS" pitchFamily="34" charset="0"/>
                  <a:sym typeface="Times New Roman" charset="0"/>
                </a:defRPr>
              </a:lvl5pPr>
            </a:lstStyle>
            <a:p>
              <a:pPr marL="0" lvl="0" indent="0" algn="ctr" eaLnBrk="1" latin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Copperplate Gothic Bold" pitchFamily="34" charset="0"/>
                </a:rPr>
                <a:t>ANIMATION</a:t>
              </a:r>
            </a:p>
          </p:txBody>
        </p:sp>
        <p:sp>
          <p:nvSpPr>
            <p:cNvPr id="1048637" name="Straight Connector 1048636"/>
            <p:cNvSpPr/>
            <p:nvPr/>
          </p:nvSpPr>
          <p:spPr>
            <a:xfrm flipV="1">
              <a:off x="6201" y="4864"/>
              <a:ext cx="0" cy="540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38" name="Straight Connector 1048637"/>
            <p:cNvSpPr/>
            <p:nvPr/>
          </p:nvSpPr>
          <p:spPr>
            <a:xfrm flipH="1" flipV="1">
              <a:off x="7821" y="4684"/>
              <a:ext cx="720" cy="360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39" name="Straight Connector 1048638"/>
            <p:cNvSpPr/>
            <p:nvPr/>
          </p:nvSpPr>
          <p:spPr>
            <a:xfrm flipH="1">
              <a:off x="7821" y="3424"/>
              <a:ext cx="720" cy="540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</p:grp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048641"/>
          <p:cNvSpPr>
            <a:spLocks noGrp="1"/>
          </p:cNvSpPr>
          <p:nvPr>
            <p:ph type="title"/>
          </p:nvPr>
        </p:nvSpPr>
        <p:spPr>
          <a:xfrm>
            <a:off x="228600" y="93662"/>
            <a:ext cx="8686800" cy="4635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What is Multimedia? ….</a:t>
            </a:r>
          </a:p>
        </p:txBody>
      </p:sp>
      <p:sp>
        <p:nvSpPr>
          <p:cNvPr id="1048643" name="Content Placeholder 1048642"/>
          <p:cNvSpPr>
            <a:spLocks noGrp="1"/>
          </p:cNvSpPr>
          <p:nvPr>
            <p:ph idx="1"/>
          </p:nvPr>
        </p:nvSpPr>
        <p:spPr>
          <a:xfrm>
            <a:off x="228600" y="557212"/>
            <a:ext cx="8686800" cy="6300787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Text 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Text is most commonly used to communicate information.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It has </a:t>
            </a: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alphanumeric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 characters, in addition to special characters.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It involves the use of text types, sizes, fonts, colors and background colors.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 Multimedia applications support linked content, through Hypertext.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Text in SMS, FAX, Email are examples of this element in Communication.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Common file types include: TXT, DOC, DOCX, PDF. </a:t>
            </a:r>
            <a:r>
              <a:t/>
            </a:r>
            <a:br/>
            <a:endParaRPr lang="en-US" altLang="en-US" sz="1500">
              <a:latin typeface="Garamond" pitchFamily="18" charset="0"/>
            </a:endParaRPr>
          </a:p>
          <a:p>
            <a:pPr lvl="0" eaLnBrk="1" latinLnBrk="1" hangingPunct="1">
              <a:lnSpc>
                <a:spcPct val="80000"/>
              </a:lnSpc>
              <a:buNone/>
            </a:pPr>
            <a:r>
              <a:t/>
            </a:r>
            <a:br/>
            <a:r>
              <a:rPr lang="en-US" altLang="en-US" sz="800"/>
              <a:t> </a:t>
            </a:r>
          </a:p>
        </p:txBody>
      </p:sp>
      <p:sp>
        <p:nvSpPr>
          <p:cNvPr id="1048644" name="TextBox 1048643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4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048644"/>
          <p:cNvSpPr>
            <a:spLocks noGrp="1"/>
          </p:cNvSpPr>
          <p:nvPr>
            <p:ph type="title"/>
          </p:nvPr>
        </p:nvSpPr>
        <p:spPr>
          <a:xfrm>
            <a:off x="152400" y="79375"/>
            <a:ext cx="8759825" cy="377825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                                                               Cont’d…</a:t>
            </a:r>
          </a:p>
        </p:txBody>
      </p:sp>
      <p:sp>
        <p:nvSpPr>
          <p:cNvPr id="1048646" name="Content Placeholder 1048645"/>
          <p:cNvSpPr>
            <a:spLocks noGrp="1"/>
          </p:cNvSpPr>
          <p:nvPr>
            <p:ph idx="1"/>
          </p:nvPr>
        </p:nvSpPr>
        <p:spPr>
          <a:xfrm>
            <a:off x="152400" y="533400"/>
            <a:ext cx="8763000" cy="6248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Clr>
                <a:srgbClr val="90C226"/>
              </a:buClr>
              <a:buFont typeface="Wingdings" pitchFamily="2" charset="2"/>
              <a:buChar char="v"/>
            </a:pPr>
            <a:r>
              <a:rPr lang="en-US" altLang="en-US" sz="2600" b="1">
                <a:solidFill>
                  <a:srgbClr val="000000"/>
                </a:solidFill>
                <a:latin typeface="Garamond" pitchFamily="18" charset="0"/>
              </a:rPr>
              <a:t>Audio 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700">
                <a:solidFill>
                  <a:srgbClr val="000000"/>
                </a:solidFill>
                <a:latin typeface="Garamond" pitchFamily="18" charset="0"/>
              </a:rPr>
              <a:t> </a:t>
            </a: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The speech, music and sound effects used in multimedia is digital audio.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Multimedia applications use audio or the sound element like, website or presentation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There are two basic type of audio or sound; analog and digital.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The original sound signal is termed as Analog audio.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The digital sampling of the original sound is termed as Digital audio.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1900">
                <a:solidFill>
                  <a:schemeClr val="dk1"/>
                </a:solidFill>
                <a:latin typeface="Garamond" pitchFamily="18" charset="0"/>
              </a:rPr>
              <a:t>Common file types for Audio include: MP3, WAV, WMA</a:t>
            </a:r>
          </a:p>
          <a:p>
            <a:pPr lvl="0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v"/>
            </a:pPr>
            <a:r>
              <a:rPr lang="en-US" altLang="en-US" sz="2200" b="1">
                <a:solidFill>
                  <a:schemeClr val="dk1"/>
                </a:solidFill>
                <a:latin typeface="Garamond" pitchFamily="18" charset="0"/>
              </a:rPr>
              <a:t>Still Image 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Images/Illustrations are the oldest form of media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There are two types of images – </a:t>
            </a: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Bitmap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and </a:t>
            </a: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Vector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image types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Bitmap images are real images that can be captured from devices such as cameras.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Vector graphics are created using software in the computer. (</a:t>
            </a: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what is computer graphics?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) .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This multimedia element enables to generate, represent, process, manipulate, and display pictures.</a:t>
            </a:r>
          </a:p>
          <a:p>
            <a:pPr lvl="1" eaLnBrk="1" latinLnBrk="1" hangingPunct="1">
              <a:lnSpc>
                <a:spcPct val="11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 Common file types for Images include: JPG, PNG, TIF, BMP</a:t>
            </a:r>
          </a:p>
          <a:p>
            <a:pPr lvl="1" eaLnBrk="1" latinLnBrk="1" hangingPunct="1">
              <a:buClr>
                <a:srgbClr val="90C226"/>
              </a:buClr>
              <a:buFont typeface="Wingdings" pitchFamily="2" charset="2"/>
              <a:buChar char="v"/>
            </a:pPr>
            <a:endParaRPr lang="en-US" altLang="en-US" sz="1300">
              <a:solidFill>
                <a:srgbClr val="000000"/>
              </a:solidFill>
              <a:latin typeface="Garamond" pitchFamily="18" charset="0"/>
            </a:endParaRPr>
          </a:p>
        </p:txBody>
      </p:sp>
      <p:sp>
        <p:nvSpPr>
          <p:cNvPr id="1048647" name="TextBox 1048646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5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048647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4635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                                                               Cont’d…</a:t>
            </a:r>
          </a:p>
        </p:txBody>
      </p:sp>
      <p:sp>
        <p:nvSpPr>
          <p:cNvPr id="1048649" name="Content Placeholder 1048648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v"/>
            </a:pPr>
            <a:r>
              <a:rPr lang="en-US" altLang="en-US" sz="2400" b="1">
                <a:solidFill>
                  <a:srgbClr val="000000"/>
                </a:solidFill>
                <a:latin typeface="Garamond" pitchFamily="18" charset="0"/>
              </a:rPr>
              <a:t>Video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100">
                <a:solidFill>
                  <a:srgbClr val="000000"/>
                </a:solidFill>
                <a:latin typeface="Garamond" pitchFamily="18" charset="0"/>
              </a:rPr>
              <a:t>Video presents moving pictures and typically combines images and sound for a multimedia experience.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100">
                <a:solidFill>
                  <a:srgbClr val="000000"/>
                </a:solidFill>
                <a:latin typeface="Garamond" pitchFamily="18" charset="0"/>
              </a:rPr>
              <a:t> This technology records, synthesizes, and displays images known as frames in such sequences at a fixed speed that makes the creation appear as moving; this is how we see a completely developed video.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100">
                <a:solidFill>
                  <a:srgbClr val="000000"/>
                </a:solidFill>
                <a:latin typeface="Garamond" pitchFamily="18" charset="0"/>
              </a:rPr>
              <a:t>Common file types for Video include AVI, WMV, FLV, MOV, MP4</a:t>
            </a:r>
          </a:p>
          <a:p>
            <a:pPr lvl="0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v"/>
            </a:pPr>
            <a:r>
              <a:rPr lang="en-US" altLang="en-US" sz="2400" b="1">
                <a:solidFill>
                  <a:srgbClr val="000000"/>
                </a:solidFill>
                <a:latin typeface="Garamond" pitchFamily="18" charset="0"/>
              </a:rPr>
              <a:t>Animation: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latin typeface="Garamond" pitchFamily="18" charset="0"/>
              </a:rPr>
              <a:t>Animation is the process of making a static image to look as if it is moving.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000">
                <a:solidFill>
                  <a:schemeClr val="dk1"/>
                </a:solidFill>
                <a:latin typeface="Garamond" pitchFamily="18" charset="0"/>
                <a:ea typeface="Times New Roman" charset="0"/>
              </a:rPr>
              <a:t>Animation refers to any time sequence of visual changes in a computer-generated image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latin typeface="Garamond" pitchFamily="18" charset="0"/>
              </a:rPr>
              <a:t>It helps in creating, developing, sequencing, and displaying a set of images technically known as frames.</a:t>
            </a:r>
          </a:p>
          <a:p>
            <a:pPr lvl="1" eaLnBrk="1" latinLnBrk="1" hangingPunct="1">
              <a:lnSpc>
                <a:spcPct val="90000"/>
              </a:lnSpc>
              <a:buClr>
                <a:srgbClr val="90C226"/>
              </a:buClr>
              <a:buFont typeface="Wingdings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latin typeface="Garamond" pitchFamily="18" charset="0"/>
              </a:rPr>
              <a:t>Digital animation can be classified as 2D two dimension and 3D Three dimension animations.</a:t>
            </a:r>
          </a:p>
        </p:txBody>
      </p:sp>
      <p:sp>
        <p:nvSpPr>
          <p:cNvPr id="1048650" name="TextBox 1048649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6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048662"/>
          <p:cNvSpPr>
            <a:spLocks noGrp="1"/>
          </p:cNvSpPr>
          <p:nvPr>
            <p:ph type="title"/>
          </p:nvPr>
        </p:nvSpPr>
        <p:spPr>
          <a:xfrm>
            <a:off x="304800" y="274637"/>
            <a:ext cx="8686800" cy="715962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</a:lstStyle>
          <a:p>
            <a:pPr lvl="0" eaLnBrk="1" latinLnBrk="1" hangingPunct="1"/>
            <a:r>
              <a:rPr lang="en-US" altLang="en-US" b="1">
                <a:solidFill>
                  <a:srgbClr val="002060"/>
                </a:solidFill>
                <a:latin typeface="Calisto MT" pitchFamily="18" charset="0"/>
              </a:rPr>
              <a:t>Linear VS Non-Linear</a:t>
            </a:r>
          </a:p>
        </p:txBody>
      </p:sp>
      <p:sp>
        <p:nvSpPr>
          <p:cNvPr id="1048664" name="Text Placeholder 1048663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686800" cy="5654675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just" eaLnBrk="1" latinLnBrk="1" hangingPunct="1"/>
            <a:endParaRPr lang="en-US" altLang="en-US" sz="2400">
              <a:latin typeface="Book Antiqua" pitchFamily="18" charset="0"/>
            </a:endParaRPr>
          </a:p>
          <a:p>
            <a:pPr lvl="0" algn="just" eaLnBrk="1" latinLnBrk="1" hangingPunct="1"/>
            <a:endParaRPr lang="en-US" altLang="en-US" sz="2400">
              <a:latin typeface="Book Antiqua" pitchFamily="18" charset="0"/>
            </a:endParaRPr>
          </a:p>
          <a:p>
            <a:pPr lvl="1" algn="just" eaLnBrk="1" latinLnBrk="1" hangingPunct="1">
              <a:buFont typeface="Wingdings" pitchFamily="2" charset="2"/>
              <a:buChar char="§"/>
            </a:pPr>
            <a:r>
              <a:rPr lang="en-US" altLang="en-US">
                <a:latin typeface="Book Antiqua" pitchFamily="18" charset="0"/>
              </a:rPr>
              <a:t>A Multimedia Project is identified as Linear when:</a:t>
            </a:r>
          </a:p>
          <a:p>
            <a:pPr lvl="2" algn="just" eaLnBrk="1" latinLnBrk="1" hangingPunct="1"/>
            <a:r>
              <a:rPr lang="en-US" altLang="en-US" sz="2800">
                <a:latin typeface="Book Antiqua" pitchFamily="18" charset="0"/>
              </a:rPr>
              <a:t>It is </a:t>
            </a:r>
            <a:r>
              <a:rPr lang="en-US" altLang="en-US" sz="2800">
                <a:latin typeface="Book Antiqua" pitchFamily="18" charset="0"/>
                <a:ea typeface="Times New Roman" charset="0"/>
              </a:rPr>
              <a:t>not interactive </a:t>
            </a:r>
          </a:p>
          <a:p>
            <a:pPr lvl="2" algn="just" eaLnBrk="1" latinLnBrk="1" hangingPunct="1"/>
            <a:r>
              <a:rPr lang="en-US" altLang="en-US" sz="2800">
                <a:latin typeface="Book Antiqua" pitchFamily="18" charset="0"/>
                <a:ea typeface="Times New Roman" charset="0"/>
              </a:rPr>
              <a:t>User have no control over the content that is being showed to them.</a:t>
            </a:r>
          </a:p>
          <a:p>
            <a:pPr lvl="1" algn="just" eaLnBrk="1" latinLnBrk="1" hangingPunct="1">
              <a:buFont typeface="Wingdings" pitchFamily="2" charset="2"/>
              <a:buChar char="§"/>
            </a:pPr>
            <a:r>
              <a:rPr lang="en-US" altLang="en-US">
                <a:latin typeface="Book Antiqua" pitchFamily="18" charset="0"/>
                <a:ea typeface="Times New Roman" charset="0"/>
              </a:rPr>
              <a:t>Example:</a:t>
            </a:r>
          </a:p>
          <a:p>
            <a:pPr lvl="2" algn="just" eaLnBrk="1" latinLnBrk="1" hangingPunct="1">
              <a:buFont typeface="Wingdings" pitchFamily="2" charset="2"/>
              <a:buChar char="§"/>
            </a:pPr>
            <a:r>
              <a:rPr lang="en-US" altLang="en-US" sz="2800">
                <a:latin typeface="Book Antiqua" pitchFamily="18" charset="0"/>
                <a:ea typeface="Times New Roman" charset="0"/>
              </a:rPr>
              <a:t>A movie</a:t>
            </a:r>
          </a:p>
          <a:p>
            <a:pPr lvl="2" algn="just" eaLnBrk="1" latinLnBrk="1" hangingPunct="1">
              <a:buFont typeface="Wingdings" pitchFamily="2" charset="2"/>
              <a:buChar char="§"/>
            </a:pPr>
            <a:r>
              <a:rPr lang="en-US" altLang="en-US" sz="2800">
                <a:latin typeface="Book Antiqua" pitchFamily="18" charset="0"/>
                <a:ea typeface="Times New Roman" charset="0"/>
              </a:rPr>
              <a:t>A non-interactive lecture / demo show</a:t>
            </a:r>
          </a:p>
          <a:p>
            <a:pPr lvl="1" algn="just" eaLnBrk="1" latinLnBrk="1" hangingPunct="1"/>
            <a:endParaRPr lang="en-US" altLang="en-US" sz="2400">
              <a:latin typeface="Book Antiqua" pitchFamily="18" charset="0"/>
              <a:ea typeface="Times New Roman" charset="0"/>
            </a:endParaRPr>
          </a:p>
        </p:txBody>
      </p:sp>
      <p:sp>
        <p:nvSpPr>
          <p:cNvPr id="1048665" name="TextBox 1048664"/>
          <p:cNvSpPr txBox="1"/>
          <p:nvPr/>
        </p:nvSpPr>
        <p:spPr>
          <a:xfrm>
            <a:off x="457200" y="1219200"/>
            <a:ext cx="1285875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Arial Unicode MS" pitchFamily="34" charset="-128"/>
              </a:rPr>
              <a:t>LINEAR</a:t>
            </a:r>
          </a:p>
        </p:txBody>
      </p:sp>
      <p:sp>
        <p:nvSpPr>
          <p:cNvPr id="1048666" name="TextBox 104866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FontTx/>
              <a:buNone/>
            </a:pPr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048666"/>
          <p:cNvSpPr>
            <a:spLocks noGrp="1"/>
          </p:cNvSpPr>
          <p:nvPr>
            <p:ph type="title"/>
          </p:nvPr>
        </p:nvSpPr>
        <p:spPr>
          <a:xfrm>
            <a:off x="304800" y="274637"/>
            <a:ext cx="8686800" cy="715962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ctr"/>
          <a:lstStyle>
            <a:lvl1pPr marL="0" indent="0" algn="ctr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</a:lstStyle>
          <a:p>
            <a:pPr lvl="0" eaLnBrk="1" latinLnBrk="1" hangingPunct="1"/>
            <a:r>
              <a:rPr lang="en-US" altLang="en-US" b="1">
                <a:solidFill>
                  <a:srgbClr val="002060"/>
                </a:solidFill>
                <a:latin typeface="Calisto MT" pitchFamily="18" charset="0"/>
              </a:rPr>
              <a:t>Linear VS Non-Linear</a:t>
            </a:r>
          </a:p>
        </p:txBody>
      </p:sp>
      <p:sp>
        <p:nvSpPr>
          <p:cNvPr id="1048668" name="Text Placeholder 1048667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686800" cy="5654675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lvl="0" algn="just" eaLnBrk="1" latinLnBrk="1" hangingPunct="1"/>
            <a:endParaRPr lang="en-US" altLang="en-US" sz="2400">
              <a:latin typeface="Book Antiqua" pitchFamily="18" charset="0"/>
            </a:endParaRPr>
          </a:p>
          <a:p>
            <a:pPr lvl="0" algn="just" eaLnBrk="1" latinLnBrk="1" hangingPunct="1"/>
            <a:endParaRPr lang="en-US" altLang="en-US" sz="2400">
              <a:latin typeface="Book Antiqua" pitchFamily="18" charset="0"/>
            </a:endParaRP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Book Antiqua" pitchFamily="18" charset="0"/>
              </a:rPr>
              <a:t>A Multimedia Project is identified as Non-Linear when: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</a:rPr>
              <a:t>It is </a:t>
            </a: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interactive 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Users have control over the content that is being showed to them.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Users are given navigational control 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Example: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Games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Courseware</a:t>
            </a:r>
          </a:p>
          <a:p>
            <a:pPr lvl="2" eaLnBrk="1" latin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Book Antiqua" pitchFamily="18" charset="0"/>
                <a:ea typeface="Times New Roman" charset="0"/>
              </a:rPr>
              <a:t>Interactive CD</a:t>
            </a:r>
          </a:p>
          <a:p>
            <a:pPr lvl="1" algn="just" eaLnBrk="1" latinLnBrk="1" hangingPunct="1"/>
            <a:endParaRPr lang="en-US" altLang="en-US" sz="2400">
              <a:latin typeface="Book Antiqua" pitchFamily="18" charset="0"/>
              <a:ea typeface="Times New Roman" charset="0"/>
            </a:endParaRPr>
          </a:p>
        </p:txBody>
      </p:sp>
      <p:sp>
        <p:nvSpPr>
          <p:cNvPr id="1048669" name="TextBox 1048668"/>
          <p:cNvSpPr txBox="1"/>
          <p:nvPr/>
        </p:nvSpPr>
        <p:spPr>
          <a:xfrm>
            <a:off x="457200" y="1219200"/>
            <a:ext cx="1965325" cy="4619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Arial Unicode MS" pitchFamily="34" charset="-128"/>
              </a:rPr>
              <a:t>Non-LINEAR</a:t>
            </a:r>
          </a:p>
        </p:txBody>
      </p:sp>
      <p:sp>
        <p:nvSpPr>
          <p:cNvPr id="1048670" name="TextBox 104866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FontTx/>
              <a:buNone/>
            </a:pPr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048683"/>
          <p:cNvSpPr>
            <a:spLocks noGrp="1"/>
          </p:cNvSpPr>
          <p:nvPr>
            <p:ph type="title"/>
          </p:nvPr>
        </p:nvSpPr>
        <p:spPr>
          <a:xfrm>
            <a:off x="457200" y="231775"/>
            <a:ext cx="8458200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800" b="1">
                <a:solidFill>
                  <a:schemeClr val="dk1"/>
                </a:solidFill>
                <a:latin typeface="Garamond" pitchFamily="18" charset="0"/>
              </a:rPr>
              <a:t>What is Hypertext?</a:t>
            </a:r>
          </a:p>
        </p:txBody>
      </p:sp>
      <p:sp>
        <p:nvSpPr>
          <p:cNvPr id="1048685" name="Content Placeholder 1048684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562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609600" lvl="0" indent="-609600" eaLnBrk="1" latinLnBrk="1" hangingPunct="1"/>
            <a:r>
              <a:rPr lang="en-US" altLang="en-US" sz="2400">
                <a:solidFill>
                  <a:schemeClr val="dk1"/>
                </a:solidFill>
              </a:rPr>
              <a:t>Hypertext is a text which contains links to other texts. </a:t>
            </a:r>
          </a:p>
          <a:p>
            <a:pPr marL="609600" lvl="0" indent="-609600" eaLnBrk="1" latinLnBrk="1" hangingPunct="1"/>
            <a:r>
              <a:rPr lang="en-US" altLang="en-US" sz="2400">
                <a:solidFill>
                  <a:schemeClr val="dk1"/>
                </a:solidFill>
              </a:rPr>
              <a:t>Hypertext is therefore usually non-linear (as indicated below). </a:t>
            </a:r>
          </a:p>
        </p:txBody>
      </p:sp>
      <p:pic>
        <p:nvPicPr>
          <p:cNvPr id="2097152" name="Picture 2097151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3124200"/>
            <a:ext cx="3733800" cy="2436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Picture 2097152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3000" y="3124200"/>
            <a:ext cx="3657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6" name="TextBox 1048685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9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048688"/>
          <p:cNvSpPr>
            <a:spLocks noGrp="1"/>
          </p:cNvSpPr>
          <p:nvPr>
            <p:ph type="title"/>
          </p:nvPr>
        </p:nvSpPr>
        <p:spPr>
          <a:xfrm>
            <a:off x="228600" y="228600"/>
            <a:ext cx="8534400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800" b="1">
                <a:solidFill>
                  <a:schemeClr val="dk1"/>
                </a:solidFill>
                <a:latin typeface="Garamond" pitchFamily="18" charset="0"/>
              </a:rPr>
              <a:t>What is Hypermedia?</a:t>
            </a:r>
          </a:p>
        </p:txBody>
      </p:sp>
      <p:sp>
        <p:nvSpPr>
          <p:cNvPr id="1048690" name="Content Placeholder 1048689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56388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HyperMedia is not constrained to be text-based. 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It can include other media, e.g., graphics, images, and especially the continuous media -- sound and video. 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Example Hypermedia Applications? 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The World Wide Web (WWW) is a clear example of a hypermedia application.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Adobe Acrobat (or other PDF software)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Adobe Flash </a:t>
            </a:r>
            <a:r>
              <a:t/>
            </a:r>
            <a:br/>
            <a:r>
              <a:t/>
            </a:r>
            <a:br/>
            <a:endParaRPr lang="en-US" altLang="en-US" sz="2200">
              <a:solidFill>
                <a:schemeClr val="dk1"/>
              </a:solidFill>
            </a:endParaRPr>
          </a:p>
        </p:txBody>
      </p:sp>
      <p:pic>
        <p:nvPicPr>
          <p:cNvPr id="2097154" name="Picture 209715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51187" y="4257675"/>
            <a:ext cx="4953000" cy="2233612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pic>
      <p:sp>
        <p:nvSpPr>
          <p:cNvPr id="1048691" name="TextBox 1048690"/>
          <p:cNvSpPr txBox="1"/>
          <p:nvPr/>
        </p:nvSpPr>
        <p:spPr>
          <a:xfrm>
            <a:off x="7848600" y="6135687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10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048691"/>
          <p:cNvSpPr>
            <a:spLocks noGrp="1"/>
          </p:cNvSpPr>
          <p:nvPr>
            <p:ph type="title"/>
          </p:nvPr>
        </p:nvSpPr>
        <p:spPr>
          <a:xfrm>
            <a:off x="133350" y="82550"/>
            <a:ext cx="885825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  <a:latin typeface="Garamond" pitchFamily="18" charset="0"/>
              </a:rPr>
              <a:t>Basic tools supporting Multimedia</a:t>
            </a:r>
          </a:p>
        </p:txBody>
      </p:sp>
      <p:sp>
        <p:nvSpPr>
          <p:cNvPr id="1048693" name="Content Placeholder 104869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96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Basic tools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supporting Multimedia development include: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HTML 5, CSS,Macromedia Flash, Dreamweaver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,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Programming Applications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(native playback) :Director,LiveCode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Artwork Development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- Photoshop, Illustrator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Animation Development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(2D and 3D) - After Effects, Maya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Audio Editing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- Sound Forge, Audition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Video Editing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- Final Cut Pro, Premiere Pro </a:t>
            </a:r>
            <a:r>
              <a:t/>
            </a:r>
            <a:br/>
            <a:endParaRPr lang="en-US" altLang="en-US"/>
          </a:p>
        </p:txBody>
      </p:sp>
      <p:sp>
        <p:nvSpPr>
          <p:cNvPr id="1048694" name="TextBox 1048693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11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048694"/>
          <p:cNvSpPr>
            <a:spLocks noGrp="1"/>
          </p:cNvSpPr>
          <p:nvPr>
            <p:ph type="title"/>
          </p:nvPr>
        </p:nvSpPr>
        <p:spPr>
          <a:xfrm>
            <a:off x="133350" y="82550"/>
            <a:ext cx="885825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</a:rPr>
              <a:t>Multimedia System</a:t>
            </a:r>
          </a:p>
        </p:txBody>
      </p:sp>
      <p:sp>
        <p:nvSpPr>
          <p:cNvPr id="1048696" name="Content Placeholder 1048695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96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A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Multimedia System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is a system capable of processing multimedia data and applications.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A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Multimedia System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is characterized by the processing, storage, generation, manipulation and rendition of Multimedia information.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A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Multimedia system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has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four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basic characteristics: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Multimedia systems must be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computer controlled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Multimedia systems are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integrated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The information they handle must be represented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digitally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The interface to the final presentation of media is usually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interactive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. </a:t>
            </a:r>
            <a:r>
              <a:t/>
            </a:r>
            <a:br/>
            <a:r>
              <a:rPr lang="en-US" altLang="en-US" sz="1800">
                <a:solidFill>
                  <a:schemeClr val="dk1"/>
                </a:solidFill>
                <a:latin typeface="Garamond" pitchFamily="18" charset="0"/>
              </a:rPr>
              <a:t> </a:t>
            </a:r>
            <a:r>
              <a:t/>
            </a:r>
            <a:br/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697" name="TextBox 1048696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12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048697"/>
          <p:cNvSpPr>
            <a:spLocks noGrp="1"/>
          </p:cNvSpPr>
          <p:nvPr>
            <p:ph type="title"/>
          </p:nvPr>
        </p:nvSpPr>
        <p:spPr>
          <a:xfrm>
            <a:off x="228600" y="228600"/>
            <a:ext cx="8382000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  <a:latin typeface="Garamond" pitchFamily="18" charset="0"/>
              </a:rPr>
              <a:t>Examples of Multimedia Applications </a:t>
            </a:r>
            <a:r>
              <a:t/>
            </a:r>
            <a:br/>
            <a:r>
              <a:rPr lang="en-US" altLang="en-US" sz="3200"/>
              <a:t>                </a:t>
            </a:r>
          </a:p>
        </p:txBody>
      </p:sp>
      <p:sp>
        <p:nvSpPr>
          <p:cNvPr id="1048699" name="Content Placeholder 1048698"/>
          <p:cNvSpPr>
            <a:spLocks noGrp="1"/>
          </p:cNvSpPr>
          <p:nvPr>
            <p:ph idx="1"/>
          </p:nvPr>
        </p:nvSpPr>
        <p:spPr>
          <a:xfrm>
            <a:off x="228600" y="990600"/>
            <a:ext cx="8382000" cy="56388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Digital video editing and production systems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Electronic Newspapers/Magazines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Games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Groupware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Home shopping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Interactive TV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Multimedia courseware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Video conferencing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Video-on-demand</a:t>
            </a:r>
          </a:p>
          <a:p>
            <a:pPr marL="571500" lvl="0" indent="-457200" eaLnBrk="1" latinLnBrk="1" hangingPunct="1">
              <a:buFont typeface="Wingdings" pitchFamily="2" charset="2"/>
              <a:buChar char="§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Virtual reality</a:t>
            </a:r>
          </a:p>
        </p:txBody>
      </p:sp>
      <p:sp>
        <p:nvSpPr>
          <p:cNvPr id="1048700" name="TextBox 1048699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13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048700"/>
          <p:cNvSpPr>
            <a:spLocks noGrp="1"/>
          </p:cNvSpPr>
          <p:nvPr>
            <p:ph type="title"/>
          </p:nvPr>
        </p:nvSpPr>
        <p:spPr>
          <a:xfrm>
            <a:off x="207962" y="152400"/>
            <a:ext cx="861060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800" b="1">
                <a:solidFill>
                  <a:schemeClr val="dk1"/>
                </a:solidFill>
                <a:latin typeface="Garamond" pitchFamily="18" charset="0"/>
              </a:rPr>
              <a:t>Components of a Multimedia System </a:t>
            </a:r>
            <a:r>
              <a:t/>
            </a:r>
            <a:br/>
            <a:endParaRPr lang="en-US" altLang="en-US" sz="3200"/>
          </a:p>
        </p:txBody>
      </p:sp>
      <p:sp>
        <p:nvSpPr>
          <p:cNvPr id="1048702" name="Content Placeholder 1048701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867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Now let us consider the Components (Hardware and Software) required for a multimedia system: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Capture devices -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Video Camera, Video Recorder, Audio</a:t>
            </a:r>
            <a:r>
              <a:t/>
            </a:r>
            <a:br/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Microphone, Keyboards, mice, graphics tablets, 3D input devices, tactile sensors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Storage Devices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-Hard disks, CD-ROMs, DVD-ROM, </a:t>
            </a:r>
            <a:r>
              <a:rPr lang="en-US" altLang="en-US" sz="2600" i="1">
                <a:solidFill>
                  <a:schemeClr val="dk1"/>
                </a:solidFill>
                <a:latin typeface="Garamond" pitchFamily="18" charset="0"/>
              </a:rPr>
              <a:t>etc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Communication Networks -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Local Networks, Intranets,</a:t>
            </a:r>
            <a:r>
              <a:t/>
            </a:r>
            <a:br/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Internet, Multimedia or other special high speed networks.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Computer Systems -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Multimedia Desktop machines, Workstations, MPEG/VIDEO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Display Devices -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CD-quality speakers, HDTV,SVGA, monitors, Colour printers </a:t>
            </a:r>
            <a:r>
              <a:rPr lang="en-US" altLang="en-US" sz="2600" i="1">
                <a:solidFill>
                  <a:schemeClr val="dk1"/>
                </a:solidFill>
                <a:latin typeface="Garamond" pitchFamily="18" charset="0"/>
              </a:rPr>
              <a:t>etc.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 </a:t>
            </a:r>
            <a:r>
              <a:t/>
            </a:r>
            <a:br/>
            <a:endParaRPr lang="en-US" altLang="en-US" sz="2600">
              <a:solidFill>
                <a:schemeClr val="dk1"/>
              </a:solidFill>
            </a:endParaRPr>
          </a:p>
        </p:txBody>
      </p:sp>
      <p:sp>
        <p:nvSpPr>
          <p:cNvPr id="1048703" name="TextBox 1048702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14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048706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4635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System Implications of Multimedia Systems</a:t>
            </a:r>
          </a:p>
        </p:txBody>
      </p:sp>
      <p:sp>
        <p:nvSpPr>
          <p:cNvPr id="1048708" name="Content Placeholder 1048707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Multimedia imposes new requirements on all parts of the system architecture</a:t>
            </a:r>
            <a:r>
              <a:rPr lang="en-US" altLang="en-US" sz="1700">
                <a:solidFill>
                  <a:schemeClr val="dk1"/>
                </a:solidFill>
              </a:rPr>
              <a:t>: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Representation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digitization and coding (compressing)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Storage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database, larger volumes and new access patterns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Processing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OS, scheduling, indexing, searching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Understanding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speech/object recognition, content analysis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Production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more complex authoring and user interface software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Presentation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user perception, user friendly in HCI (Human Computer Interface)</a:t>
            </a:r>
          </a:p>
          <a:p>
            <a:pPr lvl="1" eaLnBrk="1" latin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altLang="en-US" sz="1700" b="1">
                <a:solidFill>
                  <a:schemeClr val="dk1"/>
                </a:solidFill>
                <a:latin typeface="Garamond" pitchFamily="18" charset="0"/>
              </a:rPr>
              <a:t>Protection</a:t>
            </a:r>
          </a:p>
          <a:p>
            <a:pPr lvl="2" eaLnBrk="1" latin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altLang="en-US" sz="1700">
                <a:solidFill>
                  <a:schemeClr val="dk1"/>
                </a:solidFill>
                <a:latin typeface="Garamond" pitchFamily="18" charset="0"/>
              </a:rPr>
              <a:t>media encryption, copyright, privacy</a:t>
            </a:r>
          </a:p>
          <a:p>
            <a:pPr lvl="1" eaLnBrk="1" latinLnBrk="1" hangingPunct="1">
              <a:lnSpc>
                <a:spcPct val="80000"/>
              </a:lnSpc>
              <a:buNone/>
            </a:pPr>
            <a:r>
              <a:t/>
            </a:r>
            <a:br/>
            <a:r>
              <a:t/>
            </a:r>
            <a:br/>
            <a:endParaRPr lang="en-US" altLang="en-US" sz="800"/>
          </a:p>
        </p:txBody>
      </p:sp>
      <p:sp>
        <p:nvSpPr>
          <p:cNvPr id="1048709" name="TextBox 1048708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15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048709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  <a:latin typeface="Garamond" pitchFamily="18" charset="0"/>
              </a:rPr>
              <a:t>Key Issues for Multimedia Systems </a:t>
            </a:r>
            <a:r>
              <a:t/>
            </a:r>
            <a:br/>
            <a:endParaRPr lang="en-US" altLang="en-US" sz="3200"/>
          </a:p>
        </p:txBody>
      </p:sp>
      <p:sp>
        <p:nvSpPr>
          <p:cNvPr id="1048711" name="Content Placeholder 1048710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6388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The key issues multimedia systems need to deal with here are: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How to represent and store temporal information.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How to strictly maintain the temporal relationships on play back/retrieval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What process are involved in the above.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Data has to represented </a:t>
            </a: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digitally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| Analog{Digital</a:t>
            </a:r>
            <a:r>
              <a:t/>
            </a:r>
            <a:br/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Conversion, Sampling </a:t>
            </a:r>
            <a:r>
              <a:rPr lang="en-US" altLang="en-US" sz="2600" i="1">
                <a:solidFill>
                  <a:schemeClr val="dk1"/>
                </a:solidFill>
                <a:latin typeface="Garamond" pitchFamily="18" charset="0"/>
              </a:rPr>
              <a:t>etc.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Large Data Requirements | bandwidth, storage, </a:t>
            </a: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Data compression is usually mandatory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 </a:t>
            </a:r>
            <a:r>
              <a:t/>
            </a:r>
            <a:br/>
            <a:endParaRPr lang="en-US" altLang="en-US" sz="2600">
              <a:solidFill>
                <a:schemeClr val="dk1"/>
              </a:solidFill>
            </a:endParaRPr>
          </a:p>
        </p:txBody>
      </p:sp>
      <p:sp>
        <p:nvSpPr>
          <p:cNvPr id="1048712" name="TextBox 1048711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16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048712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8680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  <a:latin typeface="Garamond" pitchFamily="18" charset="0"/>
              </a:rPr>
              <a:t>Challenges for Multimedia Systems </a:t>
            </a:r>
            <a:r>
              <a:t/>
            </a:r>
            <a:br/>
            <a:endParaRPr lang="en-US" altLang="en-US" sz="3200"/>
          </a:p>
        </p:txBody>
      </p:sp>
      <p:sp>
        <p:nvSpPr>
          <p:cNvPr id="1048714" name="Content Placeholder 1048713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5689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Distributed Networks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Temporal relationship between data</a:t>
            </a:r>
          </a:p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Render different data at same time | continuously.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Sequencing within the media: playing</a:t>
            </a:r>
            <a:r>
              <a:rPr lang="en-US" altLang="en-US" sz="2800" b="1" dirty="0">
                <a:solidFill>
                  <a:schemeClr val="dk1"/>
                </a:solidFill>
                <a:latin typeface="Garamond" pitchFamily="18" charset="0"/>
              </a:rPr>
              <a:t> frames in correct order/time frame in video</a:t>
            </a:r>
          </a:p>
          <a:p>
            <a:pPr lvl="1" eaLnBrk="1" latinLnBrk="1" hangingPunct="1">
              <a:buFont typeface="Wingdings" pitchFamily="2" charset="2"/>
              <a:buChar char="§"/>
            </a:pPr>
            <a:r>
              <a:rPr lang="en-US" altLang="en-US" sz="2800" b="1" dirty="0">
                <a:solidFill>
                  <a:schemeClr val="dk1"/>
                </a:solidFill>
                <a:latin typeface="Garamond" pitchFamily="18" charset="0"/>
              </a:rPr>
              <a:t>Synchronization </a:t>
            </a: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| inter-media scheduling</a:t>
            </a:r>
            <a:r>
              <a:rPr dirty="0"/>
              <a:t/>
            </a:r>
            <a:br>
              <a:rPr dirty="0"/>
            </a:br>
            <a:r>
              <a:rPr lang="en-US" altLang="en-US" sz="2800" b="1" dirty="0">
                <a:solidFill>
                  <a:schemeClr val="dk1"/>
                </a:solidFill>
                <a:latin typeface="Garamond" pitchFamily="18" charset="0"/>
              </a:rPr>
              <a:t>E.g. </a:t>
            </a:r>
            <a:r>
              <a:rPr lang="en-US" altLang="en-US" sz="2800" dirty="0">
                <a:solidFill>
                  <a:schemeClr val="dk1"/>
                </a:solidFill>
                <a:latin typeface="Garamond" pitchFamily="18" charset="0"/>
              </a:rPr>
              <a:t>Video and Audio | Lip synchronization is clearly important for humans to watch playback of video and audio and even animation and audio.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lang="en-US" altLang="en-US" dirty="0">
                <a:solidFill>
                  <a:schemeClr val="dk1"/>
                </a:solidFill>
                <a:latin typeface="Garamond" pitchFamily="18" charset="0"/>
              </a:rPr>
              <a:t> </a:t>
            </a:r>
            <a:r>
              <a:rPr dirty="0"/>
              <a:t/>
            </a:r>
            <a:br>
              <a:rPr dirty="0"/>
            </a:br>
            <a:endParaRPr lang="en-US" altLang="en-US" dirty="0">
              <a:solidFill>
                <a:schemeClr val="dk1"/>
              </a:solidFill>
              <a:latin typeface="Garamond" pitchFamily="18" charset="0"/>
            </a:endParaRPr>
          </a:p>
        </p:txBody>
      </p:sp>
      <p:sp>
        <p:nvSpPr>
          <p:cNvPr id="1048715" name="TextBox 1048714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17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048715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800" b="1">
                <a:solidFill>
                  <a:schemeClr val="dk1"/>
                </a:solidFill>
                <a:latin typeface="Garamond" pitchFamily="18" charset="0"/>
              </a:rPr>
              <a:t>Desirable Features for a Multimedia System </a:t>
            </a:r>
            <a:r>
              <a:t/>
            </a:r>
            <a:br/>
            <a:endParaRPr lang="en-US" altLang="en-US" sz="2800" b="1">
              <a:solidFill>
                <a:schemeClr val="dk1"/>
              </a:solidFill>
              <a:latin typeface="Garamond" pitchFamily="18" charset="0"/>
            </a:endParaRPr>
          </a:p>
        </p:txBody>
      </p:sp>
      <p:sp>
        <p:nvSpPr>
          <p:cNvPr id="1048717" name="Content Placeholder 1048716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Given the above challenges the following feature a desirable (</a:t>
            </a: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if not a prerequisite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) for a Multimedia System: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Very High Processing Power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| needed to deal with large data processing and real time delivery of media.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Special hardware commonplace.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Multimedia Capable File System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| needed to deliver real-time media | </a:t>
            </a:r>
            <a:r>
              <a:rPr lang="en-US" altLang="en-US" sz="2400" i="1">
                <a:solidFill>
                  <a:schemeClr val="dk1"/>
                </a:solidFill>
                <a:latin typeface="Garamond" pitchFamily="18" charset="0"/>
              </a:rPr>
              <a:t>e.g.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Video/Audio Streaming.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Special Hardware/Software needed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{ </a:t>
            </a:r>
            <a:r>
              <a:rPr lang="en-US" altLang="en-US" sz="2400" i="1">
                <a:solidFill>
                  <a:schemeClr val="dk1"/>
                </a:solidFill>
                <a:latin typeface="Garamond" pitchFamily="18" charset="0"/>
              </a:rPr>
              <a:t>e.g.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RAID technology.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Data Representations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| File Formats that support multimedia should be easy to handle yet allow for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compression or decompression 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in </a:t>
            </a:r>
            <a:r>
              <a:rPr lang="en-US" altLang="en-US" sz="2400" b="1">
                <a:solidFill>
                  <a:schemeClr val="dk1"/>
                </a:solidFill>
                <a:latin typeface="Garamond" pitchFamily="18" charset="0"/>
              </a:rPr>
              <a:t>real-time</a:t>
            </a: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. 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600" b="1">
                <a:solidFill>
                  <a:schemeClr val="dk1"/>
                </a:solidFill>
                <a:latin typeface="Garamond" pitchFamily="18" charset="0"/>
              </a:rPr>
              <a:t>Software Tools </a:t>
            </a:r>
            <a:r>
              <a:rPr lang="en-US" altLang="en-US" sz="2600">
                <a:solidFill>
                  <a:schemeClr val="dk1"/>
                </a:solidFill>
                <a:latin typeface="Garamond" pitchFamily="18" charset="0"/>
              </a:rPr>
              <a:t>| user friendly tools needed to handle media, design and develop applications, deliver media</a:t>
            </a:r>
            <a:r>
              <a:t/>
            </a:r>
            <a:br/>
            <a:endParaRPr lang="en-US" altLang="en-US" sz="2400">
              <a:solidFill>
                <a:schemeClr val="dk1"/>
              </a:solidFill>
            </a:endParaRPr>
          </a:p>
        </p:txBody>
      </p:sp>
      <p:sp>
        <p:nvSpPr>
          <p:cNvPr id="1048718" name="TextBox 1048717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18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048718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533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eaLnBrk="1" latinLnBrk="1" hangingPunct="1"/>
            <a:r>
              <a:rPr lang="en-US" altLang="en-US" sz="3200">
                <a:solidFill>
                  <a:schemeClr val="dk1"/>
                </a:solidFill>
              </a:rPr>
              <a:t>                                         Cont’d…</a:t>
            </a:r>
          </a:p>
        </p:txBody>
      </p:sp>
      <p:sp>
        <p:nvSpPr>
          <p:cNvPr id="1048720" name="Content Placeholder 1048719"/>
          <p:cNvSpPr>
            <a:spLocks noGrp="1"/>
          </p:cNvSpPr>
          <p:nvPr>
            <p:ph idx="1"/>
          </p:nvPr>
        </p:nvSpPr>
        <p:spPr>
          <a:xfrm>
            <a:off x="228600" y="838200"/>
            <a:ext cx="8458200" cy="5867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Efficient and High I/O :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input and output to the file subsystem needs to be efficient and fast.</a:t>
            </a:r>
          </a:p>
          <a:p>
            <a:pPr lvl="1" eaLnBrk="1" latinLnBrk="1" hangingPunct="1">
              <a:lnSpc>
                <a:spcPct val="130000"/>
              </a:lnSpc>
              <a:buFont typeface="Wingdings" pitchFamily="2" charset="2"/>
              <a:buChar char="§"/>
            </a:pPr>
            <a:r>
              <a:rPr lang="en-US" altLang="en-US" sz="1800">
                <a:solidFill>
                  <a:schemeClr val="dk1"/>
                </a:solidFill>
                <a:latin typeface="Garamond" pitchFamily="18" charset="0"/>
              </a:rPr>
              <a:t> Needs to allow for real-time recording as well as playback of data. </a:t>
            </a:r>
            <a:r>
              <a:rPr lang="en-US" altLang="en-US" sz="1800" i="1">
                <a:solidFill>
                  <a:schemeClr val="dk1"/>
                </a:solidFill>
                <a:latin typeface="Garamond" pitchFamily="18" charset="0"/>
              </a:rPr>
              <a:t>e.g. </a:t>
            </a:r>
            <a:r>
              <a:rPr lang="en-US" altLang="en-US" sz="1800">
                <a:solidFill>
                  <a:schemeClr val="dk1"/>
                </a:solidFill>
                <a:latin typeface="Garamond" pitchFamily="18" charset="0"/>
              </a:rPr>
              <a:t>Direct to Disk recording systems.</a:t>
            </a:r>
          </a:p>
          <a:p>
            <a:pPr lvl="0" eaLnBrk="1" latinLnBrk="1" hangingPunct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Special Operating System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: to allow access to file system and process data efficiently and quickly. </a:t>
            </a:r>
          </a:p>
          <a:p>
            <a:pPr lvl="1" eaLnBrk="1" latinLnBrk="1" hangingPunct="1">
              <a:lnSpc>
                <a:spcPct val="130000"/>
              </a:lnSpc>
              <a:buFont typeface="Wingdings" pitchFamily="2" charset="2"/>
              <a:buChar char="§"/>
            </a:pPr>
            <a:r>
              <a:rPr lang="en-US" altLang="en-US" sz="1800">
                <a:solidFill>
                  <a:schemeClr val="dk1"/>
                </a:solidFill>
                <a:latin typeface="Garamond" pitchFamily="18" charset="0"/>
              </a:rPr>
              <a:t>Needs to support direct transfers to disk, real-time scheduling, fast interrupt processing, I/O streaming </a:t>
            </a:r>
            <a:r>
              <a:rPr lang="en-US" altLang="en-US" sz="1800" i="1">
                <a:solidFill>
                  <a:schemeClr val="dk1"/>
                </a:solidFill>
                <a:latin typeface="Garamond" pitchFamily="18" charset="0"/>
              </a:rPr>
              <a:t>etc.</a:t>
            </a:r>
            <a:r>
              <a:rPr lang="en-US" altLang="en-US" sz="1800">
                <a:solidFill>
                  <a:schemeClr val="dk1"/>
                </a:solidFill>
                <a:latin typeface="Garamond" pitchFamily="18" charset="0"/>
              </a:rPr>
              <a:t> </a:t>
            </a:r>
          </a:p>
          <a:p>
            <a:pPr lvl="0" eaLnBrk="1" latinLnBrk="1" hangingPunct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Storage and Memory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| large storage units (of the order of hundreds of Tb if not more) and large memory (several Gb or more).</a:t>
            </a:r>
          </a:p>
          <a:p>
            <a:pPr lvl="0" eaLnBrk="1" latinLnBrk="1" hangingPunct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en-US" b="1">
                <a:solidFill>
                  <a:schemeClr val="dk1"/>
                </a:solidFill>
                <a:latin typeface="Garamond" pitchFamily="18" charset="0"/>
              </a:rPr>
              <a:t>Network Support </a:t>
            </a:r>
            <a:r>
              <a:rPr lang="en-US" altLang="en-US">
                <a:solidFill>
                  <a:schemeClr val="dk1"/>
                </a:solidFill>
                <a:latin typeface="Garamond" pitchFamily="18" charset="0"/>
              </a:rPr>
              <a:t>| Client-server systems common as distributed systems common.</a:t>
            </a:r>
          </a:p>
          <a:p>
            <a:pPr lvl="0" eaLnBrk="1" latinLnBrk="1" hangingPunct="1">
              <a:lnSpc>
                <a:spcPct val="130000"/>
              </a:lnSpc>
              <a:buNone/>
            </a:pPr>
            <a:r>
              <a:t/>
            </a:r>
            <a:br/>
            <a:endParaRPr lang="en-US" altLang="en-US" sz="700">
              <a:solidFill>
                <a:schemeClr val="dk1"/>
              </a:solidFill>
              <a:latin typeface="Garamond" pitchFamily="18" charset="0"/>
            </a:endParaRPr>
          </a:p>
        </p:txBody>
      </p:sp>
      <p:sp>
        <p:nvSpPr>
          <p:cNvPr id="1048721" name="TextBox 1048720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19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04872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772400" cy="762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eaLnBrk="1" latinLnBrk="1" hangingPunct="1"/>
            <a:r>
              <a:rPr lang="en-US" altLang="en-US">
                <a:solidFill>
                  <a:schemeClr val="dk1"/>
                </a:solidFill>
              </a:rPr>
              <a:t>Producing a Multimedia  Project </a:t>
            </a:r>
          </a:p>
        </p:txBody>
      </p:sp>
      <p:sp>
        <p:nvSpPr>
          <p:cNvPr id="1048723" name="Content Placeholder 1048722"/>
          <p:cNvSpPr>
            <a:spLocks noGrp="1"/>
          </p:cNvSpPr>
          <p:nvPr>
            <p:ph idx="1"/>
          </p:nvPr>
        </p:nvSpPr>
        <p:spPr>
          <a:xfrm>
            <a:off x="381000" y="1371600"/>
            <a:ext cx="7772400" cy="503555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buFont typeface="Wingdings" pitchFamily="2" charset="2"/>
              <a:buChar char="v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Requires</a:t>
            </a:r>
          </a:p>
          <a:p>
            <a:pPr marL="857250" lvl="1" indent="-457200" eaLnBrk="1" latinLnBrk="1" hangingPunct="1">
              <a:buFont typeface="Trebuchet MS" pitchFamily="34" charset="0"/>
              <a:buAutoNum type="alphaLcParenR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creative skill </a:t>
            </a:r>
          </a:p>
          <a:p>
            <a:pPr marL="857250" lvl="1" indent="-457200" eaLnBrk="1" latinLnBrk="1" hangingPunct="1">
              <a:buFont typeface="Trebuchet MS" pitchFamily="34" charset="0"/>
              <a:buAutoNum type="alphaLcParenR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technology tools</a:t>
            </a:r>
          </a:p>
          <a:p>
            <a:pPr marL="857250" lvl="1" indent="-457200" eaLnBrk="1" latinLnBrk="1" hangingPunct="1">
              <a:buFont typeface="Trebuchet MS" pitchFamily="34" charset="0"/>
              <a:buAutoNum type="alphaLcParenR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organizational and business talent</a:t>
            </a:r>
          </a:p>
          <a:p>
            <a:pPr marL="857250" lvl="1" indent="-457200" eaLnBrk="1" latinLnBrk="1" hangingPunct="1">
              <a:buFont typeface="Trebuchet MS" pitchFamily="34" charset="0"/>
              <a:buAutoNum type="alphaLcParenR"/>
            </a:pPr>
            <a:r>
              <a:rPr lang="en-US" altLang="en-US" sz="2800">
                <a:solidFill>
                  <a:schemeClr val="dk1"/>
                </a:solidFill>
                <a:latin typeface="Garamond" pitchFamily="18" charset="0"/>
              </a:rPr>
              <a:t>knowledge of ownership and copyright rules</a:t>
            </a:r>
          </a:p>
        </p:txBody>
      </p:sp>
      <p:sp>
        <p:nvSpPr>
          <p:cNvPr id="1048724" name="TextBox 1048723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20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048724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3200" b="1">
                <a:solidFill>
                  <a:schemeClr val="dk1"/>
                </a:solidFill>
                <a:latin typeface="Garamond" pitchFamily="18" charset="0"/>
              </a:rPr>
              <a:t>Requirements</a:t>
            </a:r>
          </a:p>
        </p:txBody>
      </p:sp>
      <p:sp>
        <p:nvSpPr>
          <p:cNvPr id="1048726" name="Content Placeholder 1048725"/>
          <p:cNvSpPr>
            <a:spLocks noGrp="1"/>
          </p:cNvSpPr>
          <p:nvPr>
            <p:ph idx="1"/>
          </p:nvPr>
        </p:nvSpPr>
        <p:spPr>
          <a:xfrm>
            <a:off x="228600" y="838200"/>
            <a:ext cx="8534400" cy="571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Multimedia requires: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large amounts of digital memory and network bandwidth;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GUI (“gooey”) - a graphical user interface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CD-ROM or DVD technology for storage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In the future these may be replaced by "connected” fiber, and radio/cellular technology</a:t>
            </a:r>
          </a:p>
          <a:p>
            <a:pPr lvl="1" eaLnBrk="1" latin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>
                <a:solidFill>
                  <a:schemeClr val="dk1"/>
                </a:solidFill>
                <a:latin typeface="Garamond" pitchFamily="18" charset="0"/>
              </a:rPr>
              <a:t>DVD – Digital Versatile Disc</a:t>
            </a:r>
          </a:p>
          <a:p>
            <a:pPr lvl="1" eaLnBrk="1" latinLnBrk="1" hangingPunct="1">
              <a:buFontTx/>
              <a:buNone/>
            </a:pPr>
            <a:endParaRPr lang="en-US" altLang="en-US">
              <a:solidFill>
                <a:schemeClr val="dk1"/>
              </a:solidFill>
            </a:endParaRPr>
          </a:p>
        </p:txBody>
      </p:sp>
      <p:sp>
        <p:nvSpPr>
          <p:cNvPr id="1048727" name="TextBox 1048726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21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048727"/>
          <p:cNvSpPr>
            <a:spLocks noGrp="1"/>
          </p:cNvSpPr>
          <p:nvPr>
            <p:ph type="title"/>
          </p:nvPr>
        </p:nvSpPr>
        <p:spPr>
          <a:xfrm>
            <a:off x="601662" y="304800"/>
            <a:ext cx="8085137" cy="609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0" indent="0" algn="l" rtl="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accent1"/>
                </a:solidFill>
                <a:latin typeface="Trebuchet MS" pitchFamily="34" charset="0"/>
                <a:sym typeface="Times New Roman" charset="0"/>
              </a:defRPr>
            </a:lvl1pPr>
          </a:lstStyle>
          <a:p>
            <a:pPr lvl="0" algn="ctr" eaLnBrk="1" latinLnBrk="1" hangingPunct="1"/>
            <a:r>
              <a:rPr lang="en-US" altLang="en-US" sz="2800" b="1">
                <a:solidFill>
                  <a:schemeClr val="dk1"/>
                </a:solidFill>
                <a:latin typeface="Garamond" pitchFamily="18" charset="0"/>
              </a:rPr>
              <a:t>Why Multimedia Important?</a:t>
            </a:r>
            <a:r>
              <a:rPr lang="en-US" altLang="en-US" sz="3200"/>
              <a:t>	</a:t>
            </a:r>
          </a:p>
        </p:txBody>
      </p:sp>
      <p:sp>
        <p:nvSpPr>
          <p:cNvPr id="1048729" name="Content Placeholder 1048728"/>
          <p:cNvSpPr>
            <a:spLocks noGrp="1"/>
          </p:cNvSpPr>
          <p:nvPr>
            <p:ph idx="1"/>
          </p:nvPr>
        </p:nvSpPr>
        <p:spPr>
          <a:xfrm>
            <a:off x="609600" y="990600"/>
            <a:ext cx="8077200" cy="571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lIns="91440" tIns="45720" rIns="91440" bIns="45720" anchor="t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Digital audio/video is revolutionizing music, film, game, and video &amp;</a:t>
            </a:r>
            <a:r>
              <a:t/>
            </a:r>
            <a:br/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audio industries</a:t>
            </a:r>
          </a:p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 Convergence of computers, telecommunication, radio, and TV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 Caused by technology and competition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Dramatic changes in products and infrastructure</a:t>
            </a:r>
          </a:p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 New application potential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Huge potential markets</a:t>
            </a:r>
          </a:p>
          <a:p>
            <a:pPr lvl="1" eaLnBrk="1" latin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000">
                <a:solidFill>
                  <a:schemeClr val="dk1"/>
                </a:solidFill>
                <a:latin typeface="Garamond" pitchFamily="18" charset="0"/>
              </a:rPr>
              <a:t>Improving our lives (learning, entertainment, and work)</a:t>
            </a:r>
          </a:p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Interesting technical issues </a:t>
            </a:r>
          </a:p>
          <a:p>
            <a:pPr lvl="0" eaLnBrk="1" latin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Multimedia enhances learning, memory and retention</a:t>
            </a:r>
          </a:p>
          <a:p>
            <a:pPr lvl="1" eaLnBrk="1" latin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audio stimulation - 20% retention rate</a:t>
            </a:r>
          </a:p>
          <a:p>
            <a:pPr lvl="1" eaLnBrk="1" latin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audio/visual - up to 30% retention rate</a:t>
            </a:r>
          </a:p>
          <a:p>
            <a:pPr lvl="1" eaLnBrk="1" latin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dk1"/>
                </a:solidFill>
                <a:latin typeface="Garamond" pitchFamily="18" charset="0"/>
              </a:rPr>
              <a:t>interactive multimedia - up to 60% retention rate</a:t>
            </a:r>
          </a:p>
        </p:txBody>
      </p:sp>
      <p:sp>
        <p:nvSpPr>
          <p:cNvPr id="1048730" name="TextBox 1048729"/>
          <p:cNvSpPr txBox="1"/>
          <p:nvPr/>
        </p:nvSpPr>
        <p:spPr>
          <a:xfrm>
            <a:off x="6445250" y="6042025"/>
            <a:ext cx="512762" cy="36512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342900" indent="-3429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8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1pPr>
            <a:lvl2pPr marL="742950" indent="-28575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2pPr>
            <a:lvl3pPr marL="11430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3pPr>
            <a:lvl4pPr marL="16002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4pPr>
            <a:lvl5pPr marL="2057400" indent="-228600" algn="l" rtl="0" fontAlgn="base" latinLnBrk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b="0" i="0" u="none" baseline="0">
                <a:solidFill>
                  <a:srgbClr val="404040"/>
                </a:solidFill>
                <a:latin typeface="Trebuchet MS" pitchFamily="34" charset="0"/>
                <a:sym typeface="Times New Roman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fld id="{566ABCEB-ACFC-4714-9973-3DA970169C29}" type="slidenum">
              <a:rPr lang="en-US" altLang="en-US" sz="900">
                <a:solidFill>
                  <a:schemeClr val="accent1"/>
                </a:solidFill>
                <a:latin typeface="Times New Roman" charset="0"/>
              </a:rPr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t>22</a:t>
            </a:fld>
            <a:endParaRPr lang="en-US" altLang="en-US" sz="900">
              <a:solidFill>
                <a:schemeClr val="accent1"/>
              </a:solidFill>
              <a:latin typeface="Times New Roman" charset="0"/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BEBEB"/>
      </a:dk2>
      <a:lt2>
        <a:srgbClr val="2C3C43"/>
      </a:lt2>
      <a:accent1>
        <a:srgbClr val="90C226"/>
      </a:accent1>
      <a:accent2>
        <a:srgbClr val="54A021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99CA3C"/>
      </a:hlink>
      <a:folHlink>
        <a:srgbClr val="B9D18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BEBEB"/>
        </a:dk2>
        <a:lt2>
          <a:srgbClr val="2C3C43"/>
        </a:lt2>
        <a:accent1>
          <a:srgbClr val="90C226"/>
        </a:accent1>
        <a:accent2>
          <a:srgbClr val="54A021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99CA3C"/>
        </a:hlink>
        <a:folHlink>
          <a:srgbClr val="B9D181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BEBEB"/>
      </a:dk2>
      <a:lt2>
        <a:srgbClr val="2C3C43"/>
      </a:lt2>
      <a:accent1>
        <a:srgbClr val="90C226"/>
      </a:accent1>
      <a:accent2>
        <a:srgbClr val="54A021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99CA3C"/>
      </a:hlink>
      <a:folHlink>
        <a:srgbClr val="B9D18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BEBEB"/>
        </a:dk2>
        <a:lt2>
          <a:srgbClr val="2C3C43"/>
        </a:lt2>
        <a:accent1>
          <a:srgbClr val="90C226"/>
        </a:accent1>
        <a:accent2>
          <a:srgbClr val="54A021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99CA3C"/>
        </a:hlink>
        <a:folHlink>
          <a:srgbClr val="B9D181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000000"/>
        </a:accent5>
        <a:accent6>
          <a:srgbClr val="000000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1420</Words>
  <Application>Microsoft Office PowerPoint</Application>
  <PresentationFormat>On-screen Show (4:3)</PresentationFormat>
  <Paragraphs>218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9" baseType="lpstr">
      <vt:lpstr>Arial</vt:lpstr>
      <vt:lpstr>Arial Unicode MS</vt:lpstr>
      <vt:lpstr>Book Antiqua</vt:lpstr>
      <vt:lpstr>Calibri</vt:lpstr>
      <vt:lpstr>Calibri Light</vt:lpstr>
      <vt:lpstr>Calisto MT</vt:lpstr>
      <vt:lpstr>Copperplate Gothic Bold</vt:lpstr>
      <vt:lpstr>Garamond</vt:lpstr>
      <vt:lpstr>Impact</vt:lpstr>
      <vt:lpstr>Times New Roman</vt:lpstr>
      <vt:lpstr>Trebuchet MS</vt:lpstr>
      <vt:lpstr>Wingdings</vt:lpstr>
      <vt:lpstr>Wingdings 3</vt:lpstr>
      <vt:lpstr>Office 主题</vt:lpstr>
      <vt:lpstr>Office 主题</vt:lpstr>
      <vt:lpstr>Office 主题</vt:lpstr>
      <vt:lpstr>Office 主题</vt:lpstr>
      <vt:lpstr>CHAPTER ONE</vt:lpstr>
      <vt:lpstr>What is Multimedia?</vt:lpstr>
      <vt:lpstr>What is Multimedia? …</vt:lpstr>
      <vt:lpstr>What is Multimedia? ….</vt:lpstr>
      <vt:lpstr>                                                               Cont’d…</vt:lpstr>
      <vt:lpstr>                                                               Cont’d…</vt:lpstr>
      <vt:lpstr>Linear VS Non-Linear</vt:lpstr>
      <vt:lpstr>Linear VS Non-Linear</vt:lpstr>
      <vt:lpstr>What is Hypertext?</vt:lpstr>
      <vt:lpstr>What is Hypermedia?</vt:lpstr>
      <vt:lpstr>Basic tools supporting Multimedia</vt:lpstr>
      <vt:lpstr>Multimedia System</vt:lpstr>
      <vt:lpstr>Examples of Multimedia Applications                  </vt:lpstr>
      <vt:lpstr>Components of a Multimedia System  </vt:lpstr>
      <vt:lpstr>System Implications of Multimedia Systems</vt:lpstr>
      <vt:lpstr>Key Issues for Multimedia Systems  </vt:lpstr>
      <vt:lpstr>Challenges for Multimedia Systems  </vt:lpstr>
      <vt:lpstr>Desirable Features for a Multimedia System  </vt:lpstr>
      <vt:lpstr>                                         Cont’d…</vt:lpstr>
      <vt:lpstr>Producing a Multimedia  Project </vt:lpstr>
      <vt:lpstr>Requirements</vt:lpstr>
      <vt:lpstr>Why Multimedia Important?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 205 MULTIMEDIA APPLICATIONS</dc:title>
  <dc:creator>S. Jane Fritz</dc:creator>
  <cp:lastModifiedBy>User</cp:lastModifiedBy>
  <cp:revision>2</cp:revision>
  <dcterms:created xsi:type="dcterms:W3CDTF">2001-08-29T18:08:31Z</dcterms:created>
  <dcterms:modified xsi:type="dcterms:W3CDTF">2025-10-20T17:31:34Z</dcterms:modified>
</cp:coreProperties>
</file>